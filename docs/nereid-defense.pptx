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各位评委好。我们带来的作品叫'捞针'——大海捞针的捞针；英文代号 Nereid，希腊神话里在深海潜游的五十位海之宁芙——也就是我们的智能体群。安全情报的本质就是从信息的海洋里捞出那根针，我们用一群 AI 智能体把这件事做成了自动化的系统。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传统情报平台解决'有没有'，我们解决'懂不懂'——这是整份方案的出发点。30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四层结构：表现层六个界面，编排层三种图拓扑，能力层四大模块，底座四存储。数字全部是 2026-10-18 实测快照。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强调自动化程度分：APScheduler 全程无人值守 + 断点续采 + 失败降级不阻塞（cisa.gov 不可达自动切 GitHub KEV 镜像）。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富化准确率 5 分看这里：官方字段直接锁死，LLM 产出必须带证据过校验器，置信度不够宁可标存疑——准确率是设计出来的，不是口号。45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两个评委最关心的点：跨文档靠 KG 最短路径桥接；每句话带引用编号可回查——幻觉在工程上被结构性压住。40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评委如果只看一页请看这页：三套模式对应三类任务，共享 TaskRun+Redis 态——'架构精良且可扩展'的具体含义：加一条新链路=加一张子图。45 秒，本页放慢。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回答'为什么是 AI 安全情报系统而不是漏洞库'：EchoLeak 零点击注入、MCP 投毒、GB/T 45654——它们没有 CVSS，但都是安全团队的早报头条。35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重点看第三四帧：富化是 8 个 worker 并发跑出来的；'内网跑了 Ollama 和 Milvus 2.4 有什么风险'要跨文档推理，是深度问答的真实考题。若放视频让位给视频。40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只念表。所有满分线我们都是达到或超出，且每个数字都能现场复现——评测脚本就在代码仓库里。30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自动化 10 分看'自愈'：五条降级线全部真实踩出来——比如 cisa.gov 国内不可达，系统自动切 GitHub 官方 KEV 镜像。30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通用平台告诉你'有这个洞'，捞针告诉你'这个洞在 AI 资产栈的哪一层、谁在用它、会不会轮到你'。35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只点三张卡：立方体/双轨/durable execution。用 AI 原生架构做 AI 安全情报——我们用自己的题目，答自己的题。30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以上是捞针 Nereid 的全部汇报。它不是又一个漏洞列表，而是一群替安全团队值夜班、在大海里捞针的智能体。谢谢各位评委，请批评指正。15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100000"/>
            <a:ext cx="104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5400" b="1">
                <a:solidFill>
                  <a:srgbClr val="E6EEF7"/>
                </a:solidFill>
                <a:latin typeface="Noto Sans CJK SC"/>
              </a:rPr>
              <a:t>捞针 · Nereid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38BDF8"/>
                </a:solidFill>
                <a:latin typeface="Noto Sans CJK SC"/>
              </a:rPr>
              <a:t>智能体驱动的 AI 安全知识情报系统</a:t>
            </a:r>
          </a:p>
          <a:p>
            <a:pPr>
              <a:spcAft>
                <a:spcPts val="1600"/>
              </a:spcAft>
            </a:pPr>
            <a:r>
              <a:rPr sz="1500" b="0">
                <a:solidFill>
                  <a:srgbClr val="9AB0C8"/>
                </a:solidFill>
                <a:latin typeface="Noto Sans CJK SC"/>
              </a:rPr>
              <a:t>大海捞针，我们捞给你看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AB0C8"/>
                </a:solidFill>
                <a:latin typeface="Noto Sans CJK SC"/>
              </a:rPr>
              <a:t>第三届"中国电子杯"高校 ICT 产教融合创新大赛 · 赛题九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8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Noto Sans CJK SC"/>
              </a:rPr>
              <a:t>痛点 · 为什么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E6EEF7"/>
                </a:solidFill>
                <a:latin typeface="Noto Sans CJK SC"/>
              </a:rPr>
              <a:t>AI 安全情报的三个断层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0000" y="1300000"/>
            <a:ext cx="3500000" cy="26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散 · 源碎片化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CVE/NVD/GHSA/KEV 官方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20+ 社区 RSS/邮件列表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厂商 CSAF 公告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论文 / 政策文件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信息散在十几处,人工拼凑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00000" y="1300000"/>
            <a:ext cx="3500000" cy="26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浅 · 只有 CVE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提示注入 / 投毒 / Agent 滥用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大多没有 CVE 编号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现有平台不覆盖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AI 安全 ≠ 漏洞库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0000" y="1300000"/>
            <a:ext cx="3500000" cy="26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断 · 决策链条长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影响面→利用情况→修复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应急响应以小时/天计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问答能力缺失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情报≠可追问的知识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44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34D399"/>
                </a:solidFill>
                <a:latin typeface="Noto Sans CJK SC"/>
              </a:rPr>
              <a:t>赛题要的不是又一个漏洞库，而是能回答问题的情报系统。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9AB0C8"/>
                </a:solidFill>
                <a:latin typeface="Noto Sans CJK SC"/>
              </a:rPr>
              <a:t>用 AI 原生架构，做 AI 安全的情报。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8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Noto Sans CJK SC"/>
              </a:rPr>
              <a:t>系统总览 · 架构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E6EEF7"/>
                </a:solidFill>
                <a:latin typeface="Noto Sans CJK SC"/>
              </a:rPr>
              <a:t>一张图看懂捞针 · Nereid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0000" y="1300000"/>
            <a:ext cx="10900000" cy="105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表现层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Next.js 大屏 / 情报卡 / 图谱探索 / 深度问答 / 为你推荐 / 报告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0000" y="2450000"/>
            <a:ext cx="10900000" cy="105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Noto Sans CJK SC"/>
              </a:rPr>
              <a:t>智能体编排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LangGraph 三层：Pipeline DAG · QueryAgent(Supervisor-as-Tools) · Analyst(P-E-C)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3600000"/>
            <a:ext cx="10900000" cy="105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6EEF7"/>
                </a:solidFill>
                <a:latin typeface="Noto Sans CJK SC"/>
              </a:rPr>
              <a:t>能力层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监测 11类41源 · 富化 8worker · Qdrant 混合检索 · Neo4j 图谱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4750000"/>
            <a:ext cx="10900000" cy="105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9AB0C8"/>
                </a:solidFill>
                <a:latin typeface="Noto Sans CJK SC"/>
              </a:rPr>
              <a:t>底座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PostgreSQL / Qdrant / Neo4j / Redis · docker-compose · systemd 自愈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600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BB424"/>
                </a:solidFill>
                <a:latin typeface="Noto Sans CJK SC"/>
              </a:rPr>
              <a:t>45,034 条情报 · 29,134 图谱节点 · 58,471 边 · 全流程无人值守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8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Noto Sans CJK SC"/>
              </a:rPr>
              <a:t>情报监测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E6EEF7"/>
                </a:solidFill>
                <a:latin typeface="Noto Sans CJK SC"/>
              </a:rPr>
              <a:t>11 类 41 源 · 四层去重 · 核心链路 ≤1 小时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0000" y="1250000"/>
          <a:ext cx="60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3000000"/>
              </a:tblGrid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8BDF8"/>
                          </a:solidFill>
                          <a:latin typeface="Noto Sans CJK SC"/>
                        </a:rPr>
                        <a:t>源类别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8BDF8"/>
                          </a:solidFill>
                          <a:latin typeface="Noto Sans CJK SC"/>
                        </a:rPr>
                        <a:t>代表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CVE 官方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cvelistV5 git 增量 (15min) · NVD · GHSA · OSV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威胁情报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CISA KEV · ExploitDB · 厂商 CSAF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社区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20+ 中英 RSS · HN · 邮件列表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AI 专用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攻击/事件/政策源 · 网信办 · TC260 · GB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800000" y="1250000"/>
            <a:ext cx="4800000" cy="26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Noto Sans CJK SC"/>
              </a:rPr>
              <a:t>四层去重漏斗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① URL 哈希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② 编号集合并集 (CVE/GHSA 多号)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③ SimHash 近重复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④ MinHash-LSH 合并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4100000"/>
            <a:ext cx="11100000" cy="14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BB424"/>
                </a:solidFill>
                <a:latin typeface="Noto Sans CJK SC"/>
              </a:rPr>
              <a:t>实测时效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cvelistV5 准实时通道 p50 ≈ 30.1 min · nvidia_psirt 0.5 min · 金丝雀注入→可检索 43.7s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满分线 ≥7 类 ≤6h → 实测 11 类 ≤1h（约 12 倍超出）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8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Noto Sans CJK SC"/>
              </a:rPr>
              <a:t>情报富化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E6EEF7"/>
                </a:solidFill>
                <a:latin typeface="Noto Sans CJK SC"/>
              </a:rPr>
              <a:t>10+ 维度自动富化 · 置信度合并 · 宁可缺不可错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250000"/>
            <a:ext cx="5600000" cy="28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富化维度（8 worker 并发）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CVSS/EPSS/KEV/SSVC 评分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PoC + 四级可信度(含恶意检测)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资产测绘 · 论文关联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CWE→CAPEC→ATT&amp;CK/ATLAS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版本解析 · 修复建议 · 中文摘要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相似情报 · 攻击链 · AI 分类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0000" y="1250000"/>
            <a:ext cx="5300000" cy="28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Noto Sans CJK SC"/>
              </a:rPr>
              <a:t>准确率机制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官方字段锁死：CVSS/EPSS/KEV 只信确定性源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LLM 只做抽取，evidence+schema 校验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校验器闸门 + 低置信 abstain 入复核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来源权重 官方1.0 &gt; 厂商0.95 &gt; 聚合0.75 &gt; LLM0.6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层级真值：CNA+ADP(Vulnrichment) → NVD Primary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4300000"/>
            <a:ext cx="11100000" cy="13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BB424"/>
                </a:solidFill>
                <a:latin typeface="Noto Sans CJK SC"/>
              </a:rPr>
              <a:t>实测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字段级准确率 99.2% · 召回 100%（n=30 分层随机，三源真值逐条比对）· vuln 富化覆盖 100%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EPSS 每日官方 CSV 全量 31,457 条 · extra.cvss_source/epss_as_of 溯源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8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Noto Sans CJK SC"/>
              </a:rPr>
              <a:t>情报问答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E6EEF7"/>
                </a:solidFill>
                <a:latin typeface="Noto Sans CJK SC"/>
              </a:rPr>
              <a:t>Agentic RAG + 知识图谱多跳桥接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250000"/>
            <a:ext cx="11100000" cy="15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证据管线（并发扇出）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extract → 路由∥原句混合检索∥KG 种子扩展∥KEV 意图直查 (4路 gather) → Agent 单轮决策(parallel_tool_calls)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→ 候选合并 → RRF 预排 → 交叉编码重排(真实 top 段) → KG ≤3 跳桥接 → 行内引用生成 → 置信度校准 → SSE 真流式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00" y="3100000"/>
          <a:ext cx="56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2800000"/>
              </a:tblGrid>
              <a:tr h="38333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8BDF8"/>
                          </a:solidFill>
                          <a:latin typeface="Noto Sans CJK SC"/>
                        </a:rPr>
                        <a:t>指标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8BDF8"/>
                          </a:solidFill>
                          <a:latin typeface="Noto Sans CJK SC"/>
                        </a:rPr>
                        <a:t>实测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38333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整体命中率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100%（12 题自建集 live）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</a:tr>
              <a:tr h="38333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多跳命中率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100%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38333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推理链完备率(≥3步)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100%（每步带 ms 耗时）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</a:tr>
              <a:tr h="38333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引用精确率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83.3%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38333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延迟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EF7"/>
                          </a:solidFill>
                          <a:latin typeface="Noto Sans CJK SC"/>
                        </a:rPr>
                        <a:t>快路径 3.2s · 深度 p50 8.9s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300000" y="3100000"/>
            <a:ext cx="5300000" cy="23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Noto Sans CJK SC"/>
              </a:rPr>
              <a:t>凭什么可信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每句答案带 [n] 引用，可点回情报卡原文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trace.steps 完整暴露推理路径（异常不丢）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置信度校准 + &lt;0.25 自动 abstain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KG 桥接靠图路径，不是向量碰运气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8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Noto Sans CJK SC"/>
              </a:rPr>
              <a:t>智能体架构 · 15分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E6EEF7"/>
                </a:solidFill>
                <a:latin typeface="Noto Sans CJK SC"/>
              </a:rPr>
              <a:t>LangGraph 三层混合编排 —— 按任务选模式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250000"/>
            <a:ext cx="3600000" cy="29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周期链路 · 确定性 DAG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collect→enrich→index→kg→notify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节点幂等可重放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部分失败可续跑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TaskRun+Redis 实时态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00000" y="1250000"/>
            <a:ext cx="3600000" cy="29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Noto Sans CJK SC"/>
              </a:rPr>
              <a:t>交互链路 · Supervisor-as-Tools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4 工具：检索/KG/详情/KEV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单轮决策+parallel_tool_calls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证据不足自动回退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轮次预算防失控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0000" y="1250000"/>
            <a:ext cx="3600000" cy="29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BB424"/>
                </a:solidFill>
                <a:latin typeface="Noto Sans CJK SC"/>
              </a:rPr>
              <a:t>分析链路 · P-E-C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聚合统计→提纲→逐节→校验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LLM 不可用时模板兜底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日报自动产出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4400000"/>
            <a:ext cx="11100000" cy="14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生产级能力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PostgreSQL checkpointer durable execution（7 checkpoint/run，崩溃后同 thread_id 断点续跑）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HITL 复核队列 confirm/reject 闭环 · handoff 弹跳预算 · worker 只回结论防上下文膨胀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8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Noto Sans CJK SC"/>
              </a:rPr>
              <a:t>AI 安全知识底座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E6EEF7"/>
                </a:solidFill>
                <a:latin typeface="Noto Sans CJK SC"/>
              </a:rPr>
              <a:t>L1–L6 资产分层 × OWASP × ATLAS × 中文政策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250000"/>
            <a:ext cx="5600000" cy="29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三维情报立方体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L1 基础设施/推理 · L2 模型/数据 · L3 应用/智能体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L4 供应链 · L5 政策治理 · L6 滥用威胁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OWASP LLM Top10 + ASI Agentic Top10 双标签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MITRE ATLAS 成熟度三级标注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0000" y="1250000"/>
            <a:ext cx="5300000" cy="29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Noto Sans CJK SC"/>
              </a:rPr>
              <a:t>别人没有的那一层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CVE+非CVE 双轨：incident/article/policy 同库同问答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中文政策源（网信办/TC260/GB）国际平台零覆盖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影子漏洞标注（disputed-but-exploited）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KG：Item-CVE-CWE-Technique-Product-Vendor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4400000"/>
            <a:ext cx="11100000" cy="11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BB424"/>
                </a:solidFill>
                <a:latin typeface="Noto Sans CJK SC"/>
              </a:rPr>
              <a:t>实测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AI 相关条目 2,330 条（L1 2078/L2 138/L3 2196/L4 103/L5 25/L6 13）· KG 29,134 节点 58,471 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8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Noto Sans CJK SC"/>
              </a:rPr>
              <a:t>场景演示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E6EEF7"/>
                </a:solidFill>
                <a:latin typeface="Noto Sans CJK SC"/>
              </a:rPr>
              <a:t>一个 SOC 的早晨：从告警到日报，无人值守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000" y="1500000"/>
            <a:ext cx="10600000" cy="8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① 大屏态势：41 源实时流入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0000" y="2450000"/>
            <a:ext cx="10600000" cy="8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② 新 CVE 入库：15min 增量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000" y="3400000"/>
            <a:ext cx="10600000" cy="8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③ 富化情报卡：8 worker 并发全景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4350000"/>
            <a:ext cx="10600000" cy="8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④ 内网风险问答：多跳推理+引用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000" y="5300000"/>
            <a:ext cx="10600000" cy="8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⑤ 为你推荐+自动日报：画像驱动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8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Noto Sans CJK SC"/>
              </a:rPr>
              <a:t>性能数字收口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E6EEF7"/>
                </a:solidFill>
                <a:latin typeface="Noto Sans CJK SC"/>
              </a:rPr>
              <a:t>满分线 vs 实测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00000" y="1300000"/>
          <a:ext cx="10800000" cy="3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4857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  <a:latin typeface="Noto Sans CJK SC"/>
                        </a:rPr>
                        <a:t>评分项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  <a:latin typeface="Noto Sans CJK SC"/>
                        </a:rPr>
                        <a:t>满分线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  <a:latin typeface="Noto Sans CJK SC"/>
                        </a:rPr>
                        <a:t>实测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485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数据源覆盖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≥7 类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11 类 / 41 源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</a:tr>
              <a:tr h="485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监测时效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≤6h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≤1h（cvelistV5 增量 p50≈30min）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485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富化维度/准确率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≥5 维 / ≥95%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8 worker 10+ 维 / 准确率 99.2%·召回 100%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</a:tr>
              <a:tr h="485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问答质量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多跳≥85%、≤5s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多跳 100%·整体 100%·快路径 3.2s·深度 p50 8.9s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485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数据规模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—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45,034 情报 / 29,134 KG 节点 / 58,471 边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</a:tr>
              <a:tr h="4857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运维自愈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—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systemd 三服务+compose 重启策略，断电自愈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0000" y="5000000"/>
            <a:ext cx="10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9AB0C8"/>
                </a:solidFill>
                <a:latin typeface="Noto Sans CJK SC"/>
              </a:rPr>
              <a:t>评测集 12 题 · 方法=关键词命中+引用存在性校验 · reports/eval_qa.json 可现场重跑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8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Noto Sans CJK SC"/>
              </a:rPr>
              <a:t>工程化 · 10分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E6EEF7"/>
                </a:solidFill>
                <a:latin typeface="Noto Sans CJK SC"/>
              </a:rPr>
              <a:t>全流程无人值守 · 五条降级线 · 一键部署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250000"/>
            <a:ext cx="5600000" cy="29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部署与自愈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docker-compose 全栈一键起（PG/Qdrant/Neo4j/Redis）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user systemd 三服务 + linger 开机拉起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Prometheus + Grafana 监控告警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幂等重放 + SAVEPOINT 事务隔离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0000" y="1250000"/>
            <a:ext cx="5300000" cy="29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Noto Sans CJK SC"/>
              </a:rPr>
              <a:t>降级矩阵（真实踩出来的）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cisa.gov 不可达 → GitHub KEV 官方镜像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GitHub API 403/限流 → 降级不阻塞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Hunter 无 API 权限 → is_simulated 模拟标注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GPU 驱动异常 → CPU ONNX 全链路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LLM key 缺失 → 确定性模板兜底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8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Noto Sans CJK SC"/>
              </a:rPr>
              <a:t>与现有方案对比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E6EEF7"/>
                </a:solidFill>
                <a:latin typeface="Noto Sans CJK SC"/>
              </a:rPr>
              <a:t>为什么是捞针 · Nereid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300000"/>
          <a:ext cx="110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00"/>
                <a:gridCol w="2750000"/>
                <a:gridCol w="2750000"/>
                <a:gridCol w="2750000"/>
              </a:tblGrid>
              <a:tr h="45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  <a:latin typeface="Noto Sans CJK SC"/>
                        </a:rPr>
                        <a:t>维度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  <a:latin typeface="Noto Sans CJK SC"/>
                        </a:rPr>
                        <a:t>通用漏洞库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  <a:latin typeface="Noto Sans CJK SC"/>
                        </a:rPr>
                        <a:t>商用 TI 平台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  <a:latin typeface="Noto Sans CJK SC"/>
                        </a:rPr>
                        <a:t>捞针·Nereid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AI 资产视角立方体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L1–L6×OWASP×ATLAS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非 CVE 情报(事件/政策)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部分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双轨全覆盖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攻击链自动生成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手工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自动+可视化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PoC 可信度分级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少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四级含恶意检测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中文政策源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网信办/TC260/GB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多跳问答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弱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KG 桥接+引用+推理链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个性化推荐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订阅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6EEF7"/>
                          </a:solidFill>
                          <a:latin typeface="Noto Sans CJK SC"/>
                        </a:rPr>
                        <a:t>画像驱动+理由回显+反馈闭环</a:t>
                      </a:r>
                    </a:p>
                  </a:txBody>
                  <a:tcPr>
                    <a:solidFill>
                      <a:srgbClr val="121E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8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Noto Sans CJK SC"/>
              </a:rPr>
              <a:t>创新点总结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E6EEF7"/>
                </a:solidFill>
                <a:latin typeface="Noto Sans CJK SC"/>
              </a:rPr>
              <a:t>差异化创新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0000" y="1300000"/>
            <a:ext cx="3500000" cy="17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① AI 资产视角情报立方体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L1–L6×OWASP×ATLAS×政策 三维投影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00000" y="1300000"/>
            <a:ext cx="3500000" cy="17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Noto Sans CJK SC"/>
              </a:rPr>
              <a:t>② CVE+非CVE 双轨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incident/policy 同库同问答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0000" y="1300000"/>
            <a:ext cx="3500000" cy="17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BB424"/>
                </a:solidFill>
                <a:latin typeface="Noto Sans CJK SC"/>
              </a:rPr>
              <a:t>③ 攻击链自动生成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确定性模板+LLM 润色+可视化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3200000"/>
            <a:ext cx="3500000" cy="17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Noto Sans CJK SC"/>
              </a:rPr>
              <a:t>④ PoC 四级可信度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含 7 类恶意特征静态检测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0000" y="3200000"/>
            <a:ext cx="3500000" cy="17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Noto Sans CJK SC"/>
              </a:rPr>
              <a:t>⑤ 层级真值源富化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CNA+ADP→NVD Primary，cvss_source 溯源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000" y="3200000"/>
            <a:ext cx="3500000" cy="1700000"/>
          </a:xfrm>
          <a:prstGeom prst="roundRect">
            <a:avLst/>
          </a:prstGeom>
          <a:solidFill>
            <a:srgbClr val="121E33"/>
          </a:solidFill>
          <a:ln w="9525">
            <a:solidFill>
              <a:srgbClr val="24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tIns="8000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BB424"/>
                </a:solidFill>
                <a:latin typeface="Noto Sans CJK SC"/>
              </a:rPr>
              <a:t>⑥ Durable execution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EEF7"/>
                </a:solidFill>
                <a:latin typeface="Noto Sans CJK SC"/>
              </a:rPr>
              <a:t>PG checkpointer 断点续跑，生产级编排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4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</a:pPr>
            <a:r>
              <a:rPr sz="3000" b="1">
                <a:solidFill>
                  <a:srgbClr val="E6EEF7"/>
                </a:solidFill>
                <a:latin typeface="Noto Sans CJK SC"/>
              </a:rPr>
              <a:t>让每一条漏洞，自己走完从发现到决策的路</a:t>
            </a:r>
          </a:p>
          <a:p>
            <a:pPr algn="ctr">
              <a:spcAft>
                <a:spcPts val="2400"/>
              </a:spcAft>
            </a:pPr>
            <a:r>
              <a:rPr sz="1600" b="0">
                <a:solidFill>
                  <a:srgbClr val="38BDF8"/>
                </a:solidFill>
                <a:latin typeface="Noto Sans CJK SC"/>
              </a:rPr>
              <a:t>监测更全更快 · 富化更深更准 · 问答能推理可解释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E6EEF7"/>
                </a:solidFill>
                <a:latin typeface="Noto Sans CJK SC"/>
              </a:rPr>
              <a:t>捞针 · Nereid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9AB0C8"/>
                </a:solidFill>
                <a:latin typeface="Noto Sans CJK SC"/>
              </a:rPr>
              <a:t>感谢奇安信命题与组委会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