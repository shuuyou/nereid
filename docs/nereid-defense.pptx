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各位评委好。我们带来的作品叫'捞针'——大海捞针的捞针；英文代号 Nereid，希腊神话里在深海潜游的五十位海之宁芙——也就是我们的智能体群。安全情报的本质就是从信息的海洋里捞出那根针，我们用一群 AI 智能体把这件事做成了自动化的系统。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传统情报平台解决'有没有'，我们解决'懂不懂'——这是整份方案的出发点。30 秒。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四层结构：表现层六个界面，编排层三种图拓扑，能力层四大模块，底座四存储。数字全部是 2026-10-19 实测快照。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强调自动化程度分：APScheduler 全程无人值守 + 断点续采 + 失败降级不阻塞（cisa.gov 不可达自动切 GitHub KEV 镜像）。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富化准确率 5 分看这里：官方字段直接锁死，LLM 产出必须带证据过校验器，置信度不够宁可标存疑——准确率是设计出来的，不是口号。45 秒。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两个评委最关心的点：跨文档靠 KG 最短路径桥接；每句话带引用编号可回查——幻觉在工程上被结构性压住。40 秒。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评委如果只看一页请看这页：三套模式对应三类任务，共享 TaskRun+Redis 态——'架构精良且可扩展'的具体含义：加一条新链路=加一张子图。45 秒，本页放慢。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回答'为什么是 AI 安全情报系统而不是漏洞库'：EchoLeak 零点击注入、MCP 投毒、GB/T 45654——它们没有 CVSS，但都是安全团队的早报头条。35 秒。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重点看第三四帧：富化是 8 个 worker 并发跑出来的；'内网跑了 Ollama 和 Milvus 2.4 有什么风险'要跨文档推理，是深度问答的真实考题。若放视频让位给视频。40 秒。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只念表。所有满分线我们都是达到或超出，且每个数字都能现场复现——评测脚本就在代码仓库里。30 秒。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自动化 10 分看'自愈'：五条降级线全部真实踩出来——比如 cisa.gov 国内不可达，系统自动切 GitHub 官方 KEV 镜像。30 秒。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通用平台告诉你'有这个洞'，捞针告诉你'这个洞在 AI 资产栈的哪一层、谁在用它、会不会轮到你'。35 秒。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只点三张卡：立方体/双轨/durable execution。用 AI 原生架构做 AI 安全情报——我们用自己的题目，答自己的题。30 秒。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以上是捞针 Nereid 的全部汇报。它不是又一个漏洞列表，而是一群替安全团队值夜班、在大海里捞针的智能体。谢谢各位评委，请批评指正。15 秒。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4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00000" y="2100000"/>
            <a:ext cx="10400000" cy="2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5400" b="1">
                <a:solidFill>
                  <a:srgbClr val="E6EEF7"/>
                </a:solidFill>
                <a:latin typeface="Noto Sans CJK SC"/>
              </a:rPr>
              <a:t>捞针 · Nereid</a:t>
            </a:r>
          </a:p>
          <a:p>
            <a:pPr>
              <a:spcAft>
                <a:spcPts val="400"/>
              </a:spcAft>
            </a:pPr>
            <a:r>
              <a:rPr sz="2200" b="0">
                <a:solidFill>
                  <a:srgbClr val="38BDF8"/>
                </a:solidFill>
                <a:latin typeface="Noto Sans CJK SC"/>
              </a:rPr>
              <a:t>智能体驱动的 AI 安全知识情报系统</a:t>
            </a:r>
          </a:p>
          <a:p>
            <a:pPr>
              <a:spcAft>
                <a:spcPts val="1600"/>
              </a:spcAft>
            </a:pPr>
            <a:r>
              <a:rPr sz="1500" b="0">
                <a:solidFill>
                  <a:srgbClr val="9AB0C8"/>
                </a:solidFill>
                <a:latin typeface="Noto Sans CJK SC"/>
              </a:rPr>
              <a:t>大海捞针，我们捞给你看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9AB0C8"/>
                </a:solidFill>
                <a:latin typeface="Noto Sans CJK SC"/>
              </a:rPr>
              <a:t>第三届"中国电子杯"高校 ICT 产教融合创新大赛 · 赛题九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4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0000" y="280000"/>
            <a:ext cx="11200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1">
                <a:solidFill>
                  <a:srgbClr val="38BDF8"/>
                </a:solidFill>
                <a:latin typeface="Noto Sans CJK SC"/>
              </a:rPr>
              <a:t>痛点 · 为什么</a:t>
            </a:r>
          </a:p>
          <a:p>
            <a:pPr>
              <a:spcAft>
                <a:spcPts val="400"/>
              </a:spcAft>
            </a:pPr>
            <a:r>
              <a:rPr sz="2800" b="1">
                <a:solidFill>
                  <a:srgbClr val="E6EEF7"/>
                </a:solidFill>
                <a:latin typeface="Noto Sans CJK SC"/>
              </a:rPr>
              <a:t>AI 安全情报的三个断层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00000" y="1300000"/>
            <a:ext cx="3500000" cy="2600000"/>
          </a:xfrm>
          <a:prstGeom prst="roundRect">
            <a:avLst/>
          </a:prstGeom>
          <a:solidFill>
            <a:srgbClr val="121E33"/>
          </a:solidFill>
          <a:ln w="9525">
            <a:solidFill>
              <a:srgbClr val="243B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0000" tIns="80000"/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38BDF8"/>
                </a:solidFill>
                <a:latin typeface="Noto Sans CJK SC"/>
              </a:rPr>
              <a:t>散 · 源碎片化</a:t>
            </a:r>
          </a:p>
          <a:p>
            <a:pPr>
              <a:spcAft>
                <a:spcPts val="200"/>
              </a:spcAft>
            </a:pPr>
            <a:r>
              <a:rPr sz="1100" b="0">
                <a:solidFill>
                  <a:srgbClr val="E6EEF7"/>
                </a:solidFill>
                <a:latin typeface="Noto Sans CJK SC"/>
              </a:rPr>
              <a:t>CVE/NVD/GHSA/KEV 官方</a:t>
            </a:r>
          </a:p>
          <a:p>
            <a:pPr>
              <a:spcAft>
                <a:spcPts val="200"/>
              </a:spcAft>
            </a:pPr>
            <a:r>
              <a:rPr sz="1100" b="0">
                <a:solidFill>
                  <a:srgbClr val="E6EEF7"/>
                </a:solidFill>
                <a:latin typeface="Noto Sans CJK SC"/>
              </a:rPr>
              <a:t>20+ 社区 RSS/邮件列表</a:t>
            </a:r>
          </a:p>
          <a:p>
            <a:pPr>
              <a:spcAft>
                <a:spcPts val="200"/>
              </a:spcAft>
            </a:pPr>
            <a:r>
              <a:rPr sz="1100" b="0">
                <a:solidFill>
                  <a:srgbClr val="E6EEF7"/>
                </a:solidFill>
                <a:latin typeface="Noto Sans CJK SC"/>
              </a:rPr>
              <a:t>厂商 CSAF 公告</a:t>
            </a:r>
          </a:p>
          <a:p>
            <a:pPr>
              <a:spcAft>
                <a:spcPts val="200"/>
              </a:spcAft>
            </a:pPr>
            <a:r>
              <a:rPr sz="1100" b="0">
                <a:solidFill>
                  <a:srgbClr val="E6EEF7"/>
                </a:solidFill>
                <a:latin typeface="Noto Sans CJK SC"/>
              </a:rPr>
              <a:t>论文 / 政策文件</a:t>
            </a:r>
          </a:p>
          <a:p>
            <a:pPr>
              <a:spcAft>
                <a:spcPts val="200"/>
              </a:spcAft>
            </a:pPr>
            <a:r>
              <a:rPr sz="1100" b="0">
                <a:solidFill>
                  <a:srgbClr val="E6EEF7"/>
                </a:solidFill>
                <a:latin typeface="Noto Sans CJK SC"/>
              </a:rPr>
              <a:t>信息散在十几处,人工拼凑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300000" y="1300000"/>
            <a:ext cx="3500000" cy="2600000"/>
          </a:xfrm>
          <a:prstGeom prst="roundRect">
            <a:avLst/>
          </a:prstGeom>
          <a:solidFill>
            <a:srgbClr val="121E33"/>
          </a:solidFill>
          <a:ln w="9525">
            <a:solidFill>
              <a:srgbClr val="243B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0000" tIns="80000"/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38BDF8"/>
                </a:solidFill>
                <a:latin typeface="Noto Sans CJK SC"/>
              </a:rPr>
              <a:t>浅 · 只有 CVE</a:t>
            </a:r>
          </a:p>
          <a:p>
            <a:pPr>
              <a:spcAft>
                <a:spcPts val="200"/>
              </a:spcAft>
            </a:pPr>
            <a:r>
              <a:rPr sz="1100" b="0">
                <a:solidFill>
                  <a:srgbClr val="E6EEF7"/>
                </a:solidFill>
                <a:latin typeface="Noto Sans CJK SC"/>
              </a:rPr>
              <a:t>提示注入 / 投毒 / Agent 滥用</a:t>
            </a:r>
          </a:p>
          <a:p>
            <a:pPr>
              <a:spcAft>
                <a:spcPts val="200"/>
              </a:spcAft>
            </a:pPr>
            <a:r>
              <a:rPr sz="1100" b="0">
                <a:solidFill>
                  <a:srgbClr val="E6EEF7"/>
                </a:solidFill>
                <a:latin typeface="Noto Sans CJK SC"/>
              </a:rPr>
              <a:t>大多没有 CVE 编号</a:t>
            </a:r>
          </a:p>
          <a:p>
            <a:pPr>
              <a:spcAft>
                <a:spcPts val="200"/>
              </a:spcAft>
            </a:pPr>
            <a:r>
              <a:rPr sz="1100" b="0">
                <a:solidFill>
                  <a:srgbClr val="E6EEF7"/>
                </a:solidFill>
                <a:latin typeface="Noto Sans CJK SC"/>
              </a:rPr>
              <a:t>现有平台不覆盖</a:t>
            </a:r>
          </a:p>
          <a:p>
            <a:pPr>
              <a:spcAft>
                <a:spcPts val="200"/>
              </a:spcAft>
            </a:pPr>
            <a:r>
              <a:rPr sz="1100" b="0">
                <a:solidFill>
                  <a:srgbClr val="E6EEF7"/>
                </a:solidFill>
                <a:latin typeface="Noto Sans CJK SC"/>
              </a:rPr>
              <a:t>AI 安全 ≠ 漏洞库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000000" y="1300000"/>
            <a:ext cx="3500000" cy="2600000"/>
          </a:xfrm>
          <a:prstGeom prst="roundRect">
            <a:avLst/>
          </a:prstGeom>
          <a:solidFill>
            <a:srgbClr val="121E33"/>
          </a:solidFill>
          <a:ln w="9525">
            <a:solidFill>
              <a:srgbClr val="243B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0000" tIns="80000"/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38BDF8"/>
                </a:solidFill>
                <a:latin typeface="Noto Sans CJK SC"/>
              </a:rPr>
              <a:t>断 · 决策链条长</a:t>
            </a:r>
          </a:p>
          <a:p>
            <a:pPr>
              <a:spcAft>
                <a:spcPts val="200"/>
              </a:spcAft>
            </a:pPr>
            <a:r>
              <a:rPr sz="1100" b="0">
                <a:solidFill>
                  <a:srgbClr val="E6EEF7"/>
                </a:solidFill>
                <a:latin typeface="Noto Sans CJK SC"/>
              </a:rPr>
              <a:t>影响面→利用情况→修复</a:t>
            </a:r>
          </a:p>
          <a:p>
            <a:pPr>
              <a:spcAft>
                <a:spcPts val="200"/>
              </a:spcAft>
            </a:pPr>
            <a:r>
              <a:rPr sz="1100" b="0">
                <a:solidFill>
                  <a:srgbClr val="E6EEF7"/>
                </a:solidFill>
                <a:latin typeface="Noto Sans CJK SC"/>
              </a:rPr>
              <a:t>应急响应以小时/天计</a:t>
            </a:r>
          </a:p>
          <a:p>
            <a:pPr>
              <a:spcAft>
                <a:spcPts val="200"/>
              </a:spcAft>
            </a:pPr>
            <a:r>
              <a:rPr sz="1100" b="0">
                <a:solidFill>
                  <a:srgbClr val="E6EEF7"/>
                </a:solidFill>
                <a:latin typeface="Noto Sans CJK SC"/>
              </a:rPr>
              <a:t>问答能力缺失</a:t>
            </a:r>
          </a:p>
          <a:p>
            <a:pPr>
              <a:spcAft>
                <a:spcPts val="200"/>
              </a:spcAft>
            </a:pPr>
            <a:r>
              <a:rPr sz="1100" b="0">
                <a:solidFill>
                  <a:srgbClr val="E6EEF7"/>
                </a:solidFill>
                <a:latin typeface="Noto Sans CJK SC"/>
              </a:rPr>
              <a:t>情报≠可追问的知识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0000" y="4400000"/>
            <a:ext cx="110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000" b="1">
                <a:solidFill>
                  <a:srgbClr val="34D399"/>
                </a:solidFill>
                <a:latin typeface="Noto Sans CJK SC"/>
              </a:rPr>
              <a:t>赛题要的不是又一个漏洞库，而是能回答问题的情报系统。</a:t>
            </a:r>
          </a:p>
          <a:p>
            <a:pPr>
              <a:spcAft>
                <a:spcPts val="400"/>
              </a:spcAft>
            </a:pPr>
            <a:r>
              <a:rPr sz="1500" b="0">
                <a:solidFill>
                  <a:srgbClr val="9AB0C8"/>
                </a:solidFill>
                <a:latin typeface="Noto Sans CJK SC"/>
              </a:rPr>
              <a:t>用 AI 原生架构，做 AI 安全的情报。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4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0000" y="280000"/>
            <a:ext cx="11200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1">
                <a:solidFill>
                  <a:srgbClr val="38BDF8"/>
                </a:solidFill>
                <a:latin typeface="Noto Sans CJK SC"/>
              </a:rPr>
              <a:t>系统总览 · 架构</a:t>
            </a:r>
          </a:p>
          <a:p>
            <a:pPr>
              <a:spcAft>
                <a:spcPts val="400"/>
              </a:spcAft>
            </a:pPr>
            <a:r>
              <a:rPr sz="2800" b="1">
                <a:solidFill>
                  <a:srgbClr val="E6EEF7"/>
                </a:solidFill>
                <a:latin typeface="Noto Sans CJK SC"/>
              </a:rPr>
              <a:t>一张图看懂捞针 · Nereid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00000" y="1300000"/>
            <a:ext cx="10900000" cy="1050000"/>
          </a:xfrm>
          <a:prstGeom prst="roundRect">
            <a:avLst/>
          </a:prstGeom>
          <a:solidFill>
            <a:srgbClr val="121E33"/>
          </a:solidFill>
          <a:ln w="9525">
            <a:solidFill>
              <a:srgbClr val="243B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0000" tIns="80000"/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38BDF8"/>
                </a:solidFill>
                <a:latin typeface="Noto Sans CJK SC"/>
              </a:rPr>
              <a:t>表现层</a:t>
            </a:r>
          </a:p>
          <a:p>
            <a:pPr>
              <a:spcAft>
                <a:spcPts val="200"/>
              </a:spcAft>
            </a:pPr>
            <a:r>
              <a:rPr sz="1100" b="0">
                <a:solidFill>
                  <a:srgbClr val="E6EEF7"/>
                </a:solidFill>
                <a:latin typeface="Noto Sans CJK SC"/>
              </a:rPr>
              <a:t>Next.js 值班台工作台 / 情报检索 / 图谱探索 / 深度问答 / 为你推荐 / 报告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00000" y="2450000"/>
            <a:ext cx="10900000" cy="1050000"/>
          </a:xfrm>
          <a:prstGeom prst="roundRect">
            <a:avLst/>
          </a:prstGeom>
          <a:solidFill>
            <a:srgbClr val="121E33"/>
          </a:solidFill>
          <a:ln w="9525">
            <a:solidFill>
              <a:srgbClr val="243B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0000" tIns="80000"/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34D399"/>
                </a:solidFill>
                <a:latin typeface="Noto Sans CJK SC"/>
              </a:rPr>
              <a:t>智能体编排</a:t>
            </a:r>
          </a:p>
          <a:p>
            <a:pPr>
              <a:spcAft>
                <a:spcPts val="200"/>
              </a:spcAft>
            </a:pPr>
            <a:r>
              <a:rPr sz="1100" b="0">
                <a:solidFill>
                  <a:srgbClr val="E6EEF7"/>
                </a:solidFill>
                <a:latin typeface="Noto Sans CJK SC"/>
              </a:rPr>
              <a:t>LangGraph 三层：Pipeline DAG · QueryAgent(Supervisor-as-Tools) · Analyst(P-E-C)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00000" y="3600000"/>
            <a:ext cx="10900000" cy="1050000"/>
          </a:xfrm>
          <a:prstGeom prst="roundRect">
            <a:avLst/>
          </a:prstGeom>
          <a:solidFill>
            <a:srgbClr val="121E33"/>
          </a:solidFill>
          <a:ln w="9525">
            <a:solidFill>
              <a:srgbClr val="243B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0000" tIns="80000"/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E6EEF7"/>
                </a:solidFill>
                <a:latin typeface="Noto Sans CJK SC"/>
              </a:rPr>
              <a:t>能力层</a:t>
            </a:r>
          </a:p>
          <a:p>
            <a:pPr>
              <a:spcAft>
                <a:spcPts val="200"/>
              </a:spcAft>
            </a:pPr>
            <a:r>
              <a:rPr sz="1100" b="0">
                <a:solidFill>
                  <a:srgbClr val="E6EEF7"/>
                </a:solidFill>
                <a:latin typeface="Noto Sans CJK SC"/>
              </a:rPr>
              <a:t>监测 11类41源 · 富化 8worker · Qdrant 混合检索 · Neo4j 图谱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00000" y="4750000"/>
            <a:ext cx="10900000" cy="1050000"/>
          </a:xfrm>
          <a:prstGeom prst="roundRect">
            <a:avLst/>
          </a:prstGeom>
          <a:solidFill>
            <a:srgbClr val="121E33"/>
          </a:solidFill>
          <a:ln w="9525">
            <a:solidFill>
              <a:srgbClr val="243B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0000" tIns="80000"/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9AB0C8"/>
                </a:solidFill>
                <a:latin typeface="Noto Sans CJK SC"/>
              </a:rPr>
              <a:t>底座</a:t>
            </a:r>
          </a:p>
          <a:p>
            <a:pPr>
              <a:spcAft>
                <a:spcPts val="200"/>
              </a:spcAft>
            </a:pPr>
            <a:r>
              <a:rPr sz="1100" b="0">
                <a:solidFill>
                  <a:srgbClr val="E6EEF7"/>
                </a:solidFill>
                <a:latin typeface="Noto Sans CJK SC"/>
              </a:rPr>
              <a:t>PostgreSQL / Qdrant / Neo4j / Redis · docker-compose · systemd 自愈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0000" y="6000000"/>
            <a:ext cx="1100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1">
                <a:solidFill>
                  <a:srgbClr val="FBB424"/>
                </a:solidFill>
                <a:latin typeface="Noto Sans CJK SC"/>
              </a:rPr>
              <a:t>50,277 条情报 · 52,844 图谱节点 · 84,735 边 · 全流程无人值守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4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0000" y="280000"/>
            <a:ext cx="11200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1">
                <a:solidFill>
                  <a:srgbClr val="38BDF8"/>
                </a:solidFill>
                <a:latin typeface="Noto Sans CJK SC"/>
              </a:rPr>
              <a:t>情报监测</a:t>
            </a:r>
          </a:p>
          <a:p>
            <a:pPr>
              <a:spcAft>
                <a:spcPts val="400"/>
              </a:spcAft>
            </a:pPr>
            <a:r>
              <a:rPr sz="2800" b="1">
                <a:solidFill>
                  <a:srgbClr val="E6EEF7"/>
                </a:solidFill>
                <a:latin typeface="Noto Sans CJK SC"/>
              </a:rPr>
              <a:t>11 类 41 源 · 四层去重 · 核心链路 ≤1 小时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00000" y="1250000"/>
          <a:ext cx="6000000" cy="26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00000"/>
                <a:gridCol w="3000000"/>
              </a:tblGrid>
              <a:tr h="52000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38BDF8"/>
                          </a:solidFill>
                          <a:latin typeface="Noto Sans CJK SC"/>
                        </a:rPr>
                        <a:t>源类别</a:t>
                      </a:r>
                    </a:p>
                  </a:txBody>
                  <a:tcPr>
                    <a:solidFill>
                      <a:srgbClr val="0F1A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38BDF8"/>
                          </a:solidFill>
                          <a:latin typeface="Noto Sans CJK SC"/>
                        </a:rPr>
                        <a:t>代表</a:t>
                      </a:r>
                    </a:p>
                  </a:txBody>
                  <a:tcPr>
                    <a:solidFill>
                      <a:srgbClr val="0F1A2E"/>
                    </a:solidFill>
                  </a:tcPr>
                </a:tc>
              </a:tr>
              <a:tr h="52000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6EEF7"/>
                          </a:solidFill>
                          <a:latin typeface="Noto Sans CJK SC"/>
                        </a:rPr>
                        <a:t>CVE 官方</a:t>
                      </a:r>
                    </a:p>
                  </a:txBody>
                  <a:tcPr>
                    <a:solidFill>
                      <a:srgbClr val="121E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6EEF7"/>
                          </a:solidFill>
                          <a:latin typeface="Noto Sans CJK SC"/>
                        </a:rPr>
                        <a:t>cvelistV5 git 增量 (15min) · NVD · GHSA · OSV</a:t>
                      </a:r>
                    </a:p>
                  </a:txBody>
                  <a:tcPr>
                    <a:solidFill>
                      <a:srgbClr val="121E33"/>
                    </a:solidFill>
                  </a:tcPr>
                </a:tc>
              </a:tr>
              <a:tr h="52000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6EEF7"/>
                          </a:solidFill>
                          <a:latin typeface="Noto Sans CJK SC"/>
                        </a:rPr>
                        <a:t>威胁情报</a:t>
                      </a:r>
                    </a:p>
                  </a:txBody>
                  <a:tcPr>
                    <a:solidFill>
                      <a:srgbClr val="0F1A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6EEF7"/>
                          </a:solidFill>
                          <a:latin typeface="Noto Sans CJK SC"/>
                        </a:rPr>
                        <a:t>CISA KEV · ExploitDB · 厂商 CSAF</a:t>
                      </a:r>
                    </a:p>
                  </a:txBody>
                  <a:tcPr>
                    <a:solidFill>
                      <a:srgbClr val="0F1A2E"/>
                    </a:solidFill>
                  </a:tcPr>
                </a:tc>
              </a:tr>
              <a:tr h="52000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6EEF7"/>
                          </a:solidFill>
                          <a:latin typeface="Noto Sans CJK SC"/>
                        </a:rPr>
                        <a:t>社区</a:t>
                      </a:r>
                    </a:p>
                  </a:txBody>
                  <a:tcPr>
                    <a:solidFill>
                      <a:srgbClr val="121E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6EEF7"/>
                          </a:solidFill>
                          <a:latin typeface="Noto Sans CJK SC"/>
                        </a:rPr>
                        <a:t>20+ 中英 RSS · HN · 邮件列表</a:t>
                      </a:r>
                    </a:p>
                  </a:txBody>
                  <a:tcPr>
                    <a:solidFill>
                      <a:srgbClr val="121E33"/>
                    </a:solidFill>
                  </a:tcPr>
                </a:tc>
              </a:tr>
              <a:tr h="52000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6EEF7"/>
                          </a:solidFill>
                          <a:latin typeface="Noto Sans CJK SC"/>
                        </a:rPr>
                        <a:t>AI 专用</a:t>
                      </a:r>
                    </a:p>
                  </a:txBody>
                  <a:tcPr>
                    <a:solidFill>
                      <a:srgbClr val="0F1A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6EEF7"/>
                          </a:solidFill>
                          <a:latin typeface="Noto Sans CJK SC"/>
                        </a:rPr>
                        <a:t>攻击/事件/政策源 · 网信办 · TC260 · GB</a:t>
                      </a:r>
                    </a:p>
                  </a:txBody>
                  <a:tcPr>
                    <a:solidFill>
                      <a:srgbClr val="0F1A2E"/>
                    </a:solidFill>
                  </a:tcPr>
                </a:tc>
              </a:tr>
            </a:tbl>
          </a:graphicData>
        </a:graphic>
      </p:graphicFrame>
      <p:sp>
        <p:nvSpPr>
          <p:cNvPr id="4" name="Rounded Rectangle 3"/>
          <p:cNvSpPr/>
          <p:nvPr/>
        </p:nvSpPr>
        <p:spPr>
          <a:xfrm>
            <a:off x="6800000" y="1250000"/>
            <a:ext cx="4800000" cy="2600000"/>
          </a:xfrm>
          <a:prstGeom prst="roundRect">
            <a:avLst/>
          </a:prstGeom>
          <a:solidFill>
            <a:srgbClr val="121E33"/>
          </a:solidFill>
          <a:ln w="9525">
            <a:solidFill>
              <a:srgbClr val="243B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0000" tIns="80000"/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34D399"/>
                </a:solidFill>
                <a:latin typeface="Noto Sans CJK SC"/>
              </a:rPr>
              <a:t>四层去重漏斗</a:t>
            </a:r>
          </a:p>
          <a:p>
            <a:pPr>
              <a:spcAft>
                <a:spcPts val="200"/>
              </a:spcAft>
            </a:pPr>
            <a:r>
              <a:rPr sz="1100" b="0">
                <a:solidFill>
                  <a:srgbClr val="E6EEF7"/>
                </a:solidFill>
                <a:latin typeface="Noto Sans CJK SC"/>
              </a:rPr>
              <a:t>① URL 哈希</a:t>
            </a:r>
          </a:p>
          <a:p>
            <a:pPr>
              <a:spcAft>
                <a:spcPts val="200"/>
              </a:spcAft>
            </a:pPr>
            <a:r>
              <a:rPr sz="1100" b="0">
                <a:solidFill>
                  <a:srgbClr val="E6EEF7"/>
                </a:solidFill>
                <a:latin typeface="Noto Sans CJK SC"/>
              </a:rPr>
              <a:t>② 编号集合并集 (CVE/GHSA 多号)</a:t>
            </a:r>
          </a:p>
          <a:p>
            <a:pPr>
              <a:spcAft>
                <a:spcPts val="200"/>
              </a:spcAft>
            </a:pPr>
            <a:r>
              <a:rPr sz="1100" b="0">
                <a:solidFill>
                  <a:srgbClr val="E6EEF7"/>
                </a:solidFill>
                <a:latin typeface="Noto Sans CJK SC"/>
              </a:rPr>
              <a:t>③ SimHash 近重复</a:t>
            </a:r>
          </a:p>
          <a:p>
            <a:pPr>
              <a:spcAft>
                <a:spcPts val="200"/>
              </a:spcAft>
            </a:pPr>
            <a:r>
              <a:rPr sz="1100" b="0">
                <a:solidFill>
                  <a:srgbClr val="E6EEF7"/>
                </a:solidFill>
                <a:latin typeface="Noto Sans CJK SC"/>
              </a:rPr>
              <a:t>④ MinHash-LSH 合并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0000" y="4100000"/>
            <a:ext cx="11100000" cy="1400000"/>
          </a:xfrm>
          <a:prstGeom prst="roundRect">
            <a:avLst/>
          </a:prstGeom>
          <a:solidFill>
            <a:srgbClr val="121E33"/>
          </a:solidFill>
          <a:ln w="9525">
            <a:solidFill>
              <a:srgbClr val="243B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0000" tIns="80000"/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BB424"/>
                </a:solidFill>
                <a:latin typeface="Noto Sans CJK SC"/>
              </a:rPr>
              <a:t>实测时效</a:t>
            </a:r>
          </a:p>
          <a:p>
            <a:pPr>
              <a:spcAft>
                <a:spcPts val="200"/>
              </a:spcAft>
            </a:pPr>
            <a:r>
              <a:rPr sz="1100" b="0">
                <a:solidFill>
                  <a:srgbClr val="E6EEF7"/>
                </a:solidFill>
                <a:latin typeface="Noto Sans CJK SC"/>
              </a:rPr>
              <a:t>cvelistV5 准实时通道 p50 ≈ 30.1 min · nvidia_psirt 0.5 min · 金丝雀注入→可检索 43.7s</a:t>
            </a:r>
          </a:p>
          <a:p>
            <a:pPr>
              <a:spcAft>
                <a:spcPts val="200"/>
              </a:spcAft>
            </a:pPr>
            <a:r>
              <a:rPr sz="1100" b="0">
                <a:solidFill>
                  <a:srgbClr val="E6EEF7"/>
                </a:solidFill>
                <a:latin typeface="Noto Sans CJK SC"/>
              </a:rPr>
              <a:t>满分线 ≥7 类 ≤6h → 实测 11 类 ≤1h（约 12 倍超出）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4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0000" y="280000"/>
            <a:ext cx="11200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1">
                <a:solidFill>
                  <a:srgbClr val="38BDF8"/>
                </a:solidFill>
                <a:latin typeface="Noto Sans CJK SC"/>
              </a:rPr>
              <a:t>情报富化</a:t>
            </a:r>
          </a:p>
          <a:p>
            <a:pPr>
              <a:spcAft>
                <a:spcPts val="400"/>
              </a:spcAft>
            </a:pPr>
            <a:r>
              <a:rPr sz="2800" b="1">
                <a:solidFill>
                  <a:srgbClr val="E6EEF7"/>
                </a:solidFill>
                <a:latin typeface="Noto Sans CJK SC"/>
              </a:rPr>
              <a:t>10+ 维度自动富化 · 置信度合并 · 宁可缺不可错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0000" y="1250000"/>
            <a:ext cx="5600000" cy="2800000"/>
          </a:xfrm>
          <a:prstGeom prst="roundRect">
            <a:avLst/>
          </a:prstGeom>
          <a:solidFill>
            <a:srgbClr val="121E33"/>
          </a:solidFill>
          <a:ln w="9525">
            <a:solidFill>
              <a:srgbClr val="243B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0000" tIns="80000"/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38BDF8"/>
                </a:solidFill>
                <a:latin typeface="Noto Sans CJK SC"/>
              </a:rPr>
              <a:t>富化维度（8 worker 并发）</a:t>
            </a:r>
          </a:p>
          <a:p>
            <a:pPr>
              <a:spcAft>
                <a:spcPts val="200"/>
              </a:spcAft>
            </a:pPr>
            <a:r>
              <a:rPr sz="1100" b="0">
                <a:solidFill>
                  <a:srgbClr val="E6EEF7"/>
                </a:solidFill>
                <a:latin typeface="Noto Sans CJK SC"/>
              </a:rPr>
              <a:t>CVSS/EPSS/KEV/SSVC 评分</a:t>
            </a:r>
          </a:p>
          <a:p>
            <a:pPr>
              <a:spcAft>
                <a:spcPts val="200"/>
              </a:spcAft>
            </a:pPr>
            <a:r>
              <a:rPr sz="1100" b="0">
                <a:solidFill>
                  <a:srgbClr val="E6EEF7"/>
                </a:solidFill>
                <a:latin typeface="Noto Sans CJK SC"/>
              </a:rPr>
              <a:t>PoC + 四级可信度(含恶意检测)</a:t>
            </a:r>
          </a:p>
          <a:p>
            <a:pPr>
              <a:spcAft>
                <a:spcPts val="200"/>
              </a:spcAft>
            </a:pPr>
            <a:r>
              <a:rPr sz="1100" b="0">
                <a:solidFill>
                  <a:srgbClr val="E6EEF7"/>
                </a:solidFill>
                <a:latin typeface="Noto Sans CJK SC"/>
              </a:rPr>
              <a:t>资产测绘 · 论文关联</a:t>
            </a:r>
          </a:p>
          <a:p>
            <a:pPr>
              <a:spcAft>
                <a:spcPts val="200"/>
              </a:spcAft>
            </a:pPr>
            <a:r>
              <a:rPr sz="1100" b="0">
                <a:solidFill>
                  <a:srgbClr val="E6EEF7"/>
                </a:solidFill>
                <a:latin typeface="Noto Sans CJK SC"/>
              </a:rPr>
              <a:t>CWE→CAPEC→ATT&amp;CK/ATLAS</a:t>
            </a:r>
          </a:p>
          <a:p>
            <a:pPr>
              <a:spcAft>
                <a:spcPts val="200"/>
              </a:spcAft>
            </a:pPr>
            <a:r>
              <a:rPr sz="1100" b="0">
                <a:solidFill>
                  <a:srgbClr val="E6EEF7"/>
                </a:solidFill>
                <a:latin typeface="Noto Sans CJK SC"/>
              </a:rPr>
              <a:t>版本解析 · 修复建议 · 中文摘要</a:t>
            </a:r>
          </a:p>
          <a:p>
            <a:pPr>
              <a:spcAft>
                <a:spcPts val="200"/>
              </a:spcAft>
            </a:pPr>
            <a:r>
              <a:rPr sz="1100" b="0">
                <a:solidFill>
                  <a:srgbClr val="E6EEF7"/>
                </a:solidFill>
                <a:latin typeface="Noto Sans CJK SC"/>
              </a:rPr>
              <a:t>相似情报 · 攻击链 · AI 分类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300000" y="1250000"/>
            <a:ext cx="5300000" cy="2800000"/>
          </a:xfrm>
          <a:prstGeom prst="roundRect">
            <a:avLst/>
          </a:prstGeom>
          <a:solidFill>
            <a:srgbClr val="121E33"/>
          </a:solidFill>
          <a:ln w="9525">
            <a:solidFill>
              <a:srgbClr val="243B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0000" tIns="80000"/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34D399"/>
                </a:solidFill>
                <a:latin typeface="Noto Sans CJK SC"/>
              </a:rPr>
              <a:t>准确率机制</a:t>
            </a:r>
          </a:p>
          <a:p>
            <a:pPr>
              <a:spcAft>
                <a:spcPts val="200"/>
              </a:spcAft>
            </a:pPr>
            <a:r>
              <a:rPr sz="1100" b="0">
                <a:solidFill>
                  <a:srgbClr val="E6EEF7"/>
                </a:solidFill>
                <a:latin typeface="Noto Sans CJK SC"/>
              </a:rPr>
              <a:t>官方字段锁死：CVSS/EPSS/KEV 只信确定性源</a:t>
            </a:r>
          </a:p>
          <a:p>
            <a:pPr>
              <a:spcAft>
                <a:spcPts val="200"/>
              </a:spcAft>
            </a:pPr>
            <a:r>
              <a:rPr sz="1100" b="0">
                <a:solidFill>
                  <a:srgbClr val="E6EEF7"/>
                </a:solidFill>
                <a:latin typeface="Noto Sans CJK SC"/>
              </a:rPr>
              <a:t>LLM 只做抽取，evidence+schema 校验</a:t>
            </a:r>
          </a:p>
          <a:p>
            <a:pPr>
              <a:spcAft>
                <a:spcPts val="200"/>
              </a:spcAft>
            </a:pPr>
            <a:r>
              <a:rPr sz="1100" b="0">
                <a:solidFill>
                  <a:srgbClr val="E6EEF7"/>
                </a:solidFill>
                <a:latin typeface="Noto Sans CJK SC"/>
              </a:rPr>
              <a:t>校验器闸门 + 低置信 abstain 入复核</a:t>
            </a:r>
          </a:p>
          <a:p>
            <a:pPr>
              <a:spcAft>
                <a:spcPts val="200"/>
              </a:spcAft>
            </a:pPr>
            <a:r>
              <a:rPr sz="1100" b="0">
                <a:solidFill>
                  <a:srgbClr val="E6EEF7"/>
                </a:solidFill>
                <a:latin typeface="Noto Sans CJK SC"/>
              </a:rPr>
              <a:t>来源权重 官方1.0 &gt; 厂商0.95 &gt; 聚合0.75 &gt; LLM0.6</a:t>
            </a:r>
          </a:p>
          <a:p>
            <a:pPr>
              <a:spcAft>
                <a:spcPts val="200"/>
              </a:spcAft>
            </a:pPr>
            <a:r>
              <a:rPr sz="1100" b="0">
                <a:solidFill>
                  <a:srgbClr val="E6EEF7"/>
                </a:solidFill>
                <a:latin typeface="Noto Sans CJK SC"/>
              </a:rPr>
              <a:t>层级真值：CNA+ADP(Vulnrichment) → NVD Primary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0000" y="4300000"/>
            <a:ext cx="11100000" cy="1300000"/>
          </a:xfrm>
          <a:prstGeom prst="roundRect">
            <a:avLst/>
          </a:prstGeom>
          <a:solidFill>
            <a:srgbClr val="121E33"/>
          </a:solidFill>
          <a:ln w="9525">
            <a:solidFill>
              <a:srgbClr val="243B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0000" tIns="80000"/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BB424"/>
                </a:solidFill>
                <a:latin typeface="Noto Sans CJK SC"/>
              </a:rPr>
              <a:t>实测</a:t>
            </a:r>
          </a:p>
          <a:p>
            <a:pPr>
              <a:spcAft>
                <a:spcPts val="200"/>
              </a:spcAft>
            </a:pPr>
            <a:r>
              <a:rPr sz="1100" b="0">
                <a:solidFill>
                  <a:srgbClr val="E6EEF7"/>
                </a:solidFill>
                <a:latin typeface="Noto Sans CJK SC"/>
              </a:rPr>
              <a:t>字段级准确率 99.2% · 召回 100%（n=30 分层随机，三源真值逐条比对）· vuln 富化覆盖 100%</a:t>
            </a:r>
          </a:p>
          <a:p>
            <a:pPr>
              <a:spcAft>
                <a:spcPts val="200"/>
              </a:spcAft>
            </a:pPr>
            <a:r>
              <a:rPr sz="1100" b="0">
                <a:solidFill>
                  <a:srgbClr val="E6EEF7"/>
                </a:solidFill>
                <a:latin typeface="Noto Sans CJK SC"/>
              </a:rPr>
              <a:t>EPSS 每日官方 CSV 全量 31,457 条 · extra.cvss_source/epss_as_of 溯源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4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0000" y="280000"/>
            <a:ext cx="11200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1">
                <a:solidFill>
                  <a:srgbClr val="38BDF8"/>
                </a:solidFill>
                <a:latin typeface="Noto Sans CJK SC"/>
              </a:rPr>
              <a:t>情报问答</a:t>
            </a:r>
          </a:p>
          <a:p>
            <a:pPr>
              <a:spcAft>
                <a:spcPts val="400"/>
              </a:spcAft>
            </a:pPr>
            <a:r>
              <a:rPr sz="2800" b="1">
                <a:solidFill>
                  <a:srgbClr val="E6EEF7"/>
                </a:solidFill>
                <a:latin typeface="Noto Sans CJK SC"/>
              </a:rPr>
              <a:t>Agentic RAG + 知识图谱多跳桥接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0000" y="1250000"/>
            <a:ext cx="11100000" cy="1500000"/>
          </a:xfrm>
          <a:prstGeom prst="roundRect">
            <a:avLst/>
          </a:prstGeom>
          <a:solidFill>
            <a:srgbClr val="121E33"/>
          </a:solidFill>
          <a:ln w="9525">
            <a:solidFill>
              <a:srgbClr val="243B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0000" tIns="80000"/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38BDF8"/>
                </a:solidFill>
                <a:latin typeface="Noto Sans CJK SC"/>
              </a:rPr>
              <a:t>证据管线（并发扇出）</a:t>
            </a:r>
          </a:p>
          <a:p>
            <a:pPr>
              <a:spcAft>
                <a:spcPts val="200"/>
              </a:spcAft>
            </a:pPr>
            <a:r>
              <a:rPr sz="1100" b="0">
                <a:solidFill>
                  <a:srgbClr val="E6EEF7"/>
                </a:solidFill>
                <a:latin typeface="Noto Sans CJK SC"/>
              </a:rPr>
              <a:t>extract → 路由∥原句混合检索∥KG 种子扩展∥KEV 意图直查 (4路 gather) → Agent 单轮决策(parallel_tool_calls)</a:t>
            </a:r>
          </a:p>
          <a:p>
            <a:pPr>
              <a:spcAft>
                <a:spcPts val="200"/>
              </a:spcAft>
            </a:pPr>
            <a:r>
              <a:rPr sz="1100" b="0">
                <a:solidFill>
                  <a:srgbClr val="E6EEF7"/>
                </a:solidFill>
                <a:latin typeface="Noto Sans CJK SC"/>
              </a:rPr>
              <a:t>→ 候选合并 → RRF 预排 → 交叉编码重排(真实 top 段) → KG ≤3 跳桥接 → 行内引用生成 → 置信度校准 → SSE 真流式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00000" y="3100000"/>
          <a:ext cx="5600000" cy="23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00000"/>
                <a:gridCol w="2800000"/>
              </a:tblGrid>
              <a:tr h="383333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38BDF8"/>
                          </a:solidFill>
                          <a:latin typeface="Noto Sans CJK SC"/>
                        </a:rPr>
                        <a:t>指标</a:t>
                      </a:r>
                    </a:p>
                  </a:txBody>
                  <a:tcPr>
                    <a:solidFill>
                      <a:srgbClr val="0F1A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38BDF8"/>
                          </a:solidFill>
                          <a:latin typeface="Noto Sans CJK SC"/>
                        </a:rPr>
                        <a:t>实测</a:t>
                      </a:r>
                    </a:p>
                  </a:txBody>
                  <a:tcPr>
                    <a:solidFill>
                      <a:srgbClr val="0F1A2E"/>
                    </a:solidFill>
                  </a:tcPr>
                </a:tc>
              </a:tr>
              <a:tr h="383333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6EEF7"/>
                          </a:solidFill>
                          <a:latin typeface="Noto Sans CJK SC"/>
                        </a:rPr>
                        <a:t>整体命中率</a:t>
                      </a:r>
                    </a:p>
                  </a:txBody>
                  <a:tcPr>
                    <a:solidFill>
                      <a:srgbClr val="121E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6EEF7"/>
                          </a:solidFill>
                          <a:latin typeface="Noto Sans CJK SC"/>
                        </a:rPr>
                        <a:t>97.9%（12 题自建集 live）</a:t>
                      </a:r>
                    </a:p>
                  </a:txBody>
                  <a:tcPr>
                    <a:solidFill>
                      <a:srgbClr val="121E33"/>
                    </a:solidFill>
                  </a:tcPr>
                </a:tc>
              </a:tr>
              <a:tr h="383333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6EEF7"/>
                          </a:solidFill>
                          <a:latin typeface="Noto Sans CJK SC"/>
                        </a:rPr>
                        <a:t>多跳命中率</a:t>
                      </a:r>
                    </a:p>
                  </a:txBody>
                  <a:tcPr>
                    <a:solidFill>
                      <a:srgbClr val="0F1A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6EEF7"/>
                          </a:solidFill>
                          <a:latin typeface="Noto Sans CJK SC"/>
                        </a:rPr>
                        <a:t>95.8%</a:t>
                      </a:r>
                    </a:p>
                  </a:txBody>
                  <a:tcPr>
                    <a:solidFill>
                      <a:srgbClr val="0F1A2E"/>
                    </a:solidFill>
                  </a:tcPr>
                </a:tc>
              </a:tr>
              <a:tr h="383333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6EEF7"/>
                          </a:solidFill>
                          <a:latin typeface="Noto Sans CJK SC"/>
                        </a:rPr>
                        <a:t>推理链完备率(≥3步)</a:t>
                      </a:r>
                    </a:p>
                  </a:txBody>
                  <a:tcPr>
                    <a:solidFill>
                      <a:srgbClr val="121E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6EEF7"/>
                          </a:solidFill>
                          <a:latin typeface="Noto Sans CJK SC"/>
                        </a:rPr>
                        <a:t>100%（每步带 ms 耗时）</a:t>
                      </a:r>
                    </a:p>
                  </a:txBody>
                  <a:tcPr>
                    <a:solidFill>
                      <a:srgbClr val="121E33"/>
                    </a:solidFill>
                  </a:tcPr>
                </a:tc>
              </a:tr>
              <a:tr h="383333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6EEF7"/>
                          </a:solidFill>
                          <a:latin typeface="Noto Sans CJK SC"/>
                        </a:rPr>
                        <a:t>引用精确率</a:t>
                      </a:r>
                    </a:p>
                  </a:txBody>
                  <a:tcPr>
                    <a:solidFill>
                      <a:srgbClr val="0F1A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6EEF7"/>
                          </a:solidFill>
                          <a:latin typeface="Noto Sans CJK SC"/>
                        </a:rPr>
                        <a:t>83.3%</a:t>
                      </a:r>
                    </a:p>
                  </a:txBody>
                  <a:tcPr>
                    <a:solidFill>
                      <a:srgbClr val="0F1A2E"/>
                    </a:solidFill>
                  </a:tcPr>
                </a:tc>
              </a:tr>
              <a:tr h="38333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6EEF7"/>
                          </a:solidFill>
                          <a:latin typeface="Noto Sans CJK SC"/>
                        </a:rPr>
                        <a:t>延迟</a:t>
                      </a:r>
                    </a:p>
                  </a:txBody>
                  <a:tcPr>
                    <a:solidFill>
                      <a:srgbClr val="121E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6EEF7"/>
                          </a:solidFill>
                          <a:latin typeface="Noto Sans CJK SC"/>
                        </a:rPr>
                        <a:t>快路径 3.2s · 深度 p50 8.9s</a:t>
                      </a:r>
                    </a:p>
                  </a:txBody>
                  <a:tcPr>
                    <a:solidFill>
                      <a:srgbClr val="121E33"/>
                    </a:solidFill>
                  </a:tcPr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6300000" y="3100000"/>
            <a:ext cx="5300000" cy="2300000"/>
          </a:xfrm>
          <a:prstGeom prst="roundRect">
            <a:avLst/>
          </a:prstGeom>
          <a:solidFill>
            <a:srgbClr val="121E33"/>
          </a:solidFill>
          <a:ln w="9525">
            <a:solidFill>
              <a:srgbClr val="243B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0000" tIns="80000"/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34D399"/>
                </a:solidFill>
                <a:latin typeface="Noto Sans CJK SC"/>
              </a:rPr>
              <a:t>凭什么可信</a:t>
            </a:r>
          </a:p>
          <a:p>
            <a:pPr>
              <a:spcAft>
                <a:spcPts val="200"/>
              </a:spcAft>
            </a:pPr>
            <a:r>
              <a:rPr sz="1100" b="0">
                <a:solidFill>
                  <a:srgbClr val="E6EEF7"/>
                </a:solidFill>
                <a:latin typeface="Noto Sans CJK SC"/>
              </a:rPr>
              <a:t>每句答案带 [n] 引用，可点回情报卡原文</a:t>
            </a:r>
          </a:p>
          <a:p>
            <a:pPr>
              <a:spcAft>
                <a:spcPts val="200"/>
              </a:spcAft>
            </a:pPr>
            <a:r>
              <a:rPr sz="1100" b="0">
                <a:solidFill>
                  <a:srgbClr val="E6EEF7"/>
                </a:solidFill>
                <a:latin typeface="Noto Sans CJK SC"/>
              </a:rPr>
              <a:t>trace.steps 完整暴露推理路径（异常不丢）</a:t>
            </a:r>
          </a:p>
          <a:p>
            <a:pPr>
              <a:spcAft>
                <a:spcPts val="200"/>
              </a:spcAft>
            </a:pPr>
            <a:r>
              <a:rPr sz="1100" b="0">
                <a:solidFill>
                  <a:srgbClr val="E6EEF7"/>
                </a:solidFill>
                <a:latin typeface="Noto Sans CJK SC"/>
              </a:rPr>
              <a:t>置信度校准 + &lt;0.25 自动 abstain</a:t>
            </a:r>
          </a:p>
          <a:p>
            <a:pPr>
              <a:spcAft>
                <a:spcPts val="200"/>
              </a:spcAft>
            </a:pPr>
            <a:r>
              <a:rPr sz="1100" b="0">
                <a:solidFill>
                  <a:srgbClr val="E6EEF7"/>
                </a:solidFill>
                <a:latin typeface="Noto Sans CJK SC"/>
              </a:rPr>
              <a:t>KG 桥接靠图路径，不是向量碰运气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4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0000" y="280000"/>
            <a:ext cx="11200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1">
                <a:solidFill>
                  <a:srgbClr val="38BDF8"/>
                </a:solidFill>
                <a:latin typeface="Noto Sans CJK SC"/>
              </a:rPr>
              <a:t>智能体架构 · 15分</a:t>
            </a:r>
          </a:p>
          <a:p>
            <a:pPr>
              <a:spcAft>
                <a:spcPts val="400"/>
              </a:spcAft>
            </a:pPr>
            <a:r>
              <a:rPr sz="2800" b="1">
                <a:solidFill>
                  <a:srgbClr val="E6EEF7"/>
                </a:solidFill>
                <a:latin typeface="Noto Sans CJK SC"/>
              </a:rPr>
              <a:t>LangGraph 三层混合编排 —— 按任务选模式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0000" y="1250000"/>
            <a:ext cx="3600000" cy="2900000"/>
          </a:xfrm>
          <a:prstGeom prst="roundRect">
            <a:avLst/>
          </a:prstGeom>
          <a:solidFill>
            <a:srgbClr val="121E33"/>
          </a:solidFill>
          <a:ln w="9525">
            <a:solidFill>
              <a:srgbClr val="243B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0000" tIns="80000"/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38BDF8"/>
                </a:solidFill>
                <a:latin typeface="Noto Sans CJK SC"/>
              </a:rPr>
              <a:t>周期链路 · 确定性 DAG</a:t>
            </a:r>
          </a:p>
          <a:p>
            <a:pPr>
              <a:spcAft>
                <a:spcPts val="200"/>
              </a:spcAft>
            </a:pPr>
            <a:r>
              <a:rPr sz="1100" b="0">
                <a:solidFill>
                  <a:srgbClr val="E6EEF7"/>
                </a:solidFill>
                <a:latin typeface="Noto Sans CJK SC"/>
              </a:rPr>
              <a:t>collect→enrich→index→kg→notify</a:t>
            </a:r>
          </a:p>
          <a:p>
            <a:pPr>
              <a:spcAft>
                <a:spcPts val="200"/>
              </a:spcAft>
            </a:pPr>
            <a:r>
              <a:rPr sz="1100" b="0">
                <a:solidFill>
                  <a:srgbClr val="E6EEF7"/>
                </a:solidFill>
                <a:latin typeface="Noto Sans CJK SC"/>
              </a:rPr>
              <a:t>节点幂等可重放</a:t>
            </a:r>
          </a:p>
          <a:p>
            <a:pPr>
              <a:spcAft>
                <a:spcPts val="200"/>
              </a:spcAft>
            </a:pPr>
            <a:r>
              <a:rPr sz="1100" b="0">
                <a:solidFill>
                  <a:srgbClr val="E6EEF7"/>
                </a:solidFill>
                <a:latin typeface="Noto Sans CJK SC"/>
              </a:rPr>
              <a:t>部分失败可续跑</a:t>
            </a:r>
          </a:p>
          <a:p>
            <a:pPr>
              <a:spcAft>
                <a:spcPts val="200"/>
              </a:spcAft>
            </a:pPr>
            <a:r>
              <a:rPr sz="1100" b="0">
                <a:solidFill>
                  <a:srgbClr val="E6EEF7"/>
                </a:solidFill>
                <a:latin typeface="Noto Sans CJK SC"/>
              </a:rPr>
              <a:t>TaskRun+Redis 实时态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300000" y="1250000"/>
            <a:ext cx="3600000" cy="2900000"/>
          </a:xfrm>
          <a:prstGeom prst="roundRect">
            <a:avLst/>
          </a:prstGeom>
          <a:solidFill>
            <a:srgbClr val="121E33"/>
          </a:solidFill>
          <a:ln w="9525">
            <a:solidFill>
              <a:srgbClr val="243B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0000" tIns="80000"/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34D399"/>
                </a:solidFill>
                <a:latin typeface="Noto Sans CJK SC"/>
              </a:rPr>
              <a:t>交互链路 · Supervisor-as-Tools</a:t>
            </a:r>
          </a:p>
          <a:p>
            <a:pPr>
              <a:spcAft>
                <a:spcPts val="200"/>
              </a:spcAft>
            </a:pPr>
            <a:r>
              <a:rPr sz="1100" b="0">
                <a:solidFill>
                  <a:srgbClr val="E6EEF7"/>
                </a:solidFill>
                <a:latin typeface="Noto Sans CJK SC"/>
              </a:rPr>
              <a:t>4 工具：检索/KG/详情/KEV</a:t>
            </a:r>
          </a:p>
          <a:p>
            <a:pPr>
              <a:spcAft>
                <a:spcPts val="200"/>
              </a:spcAft>
            </a:pPr>
            <a:r>
              <a:rPr sz="1100" b="0">
                <a:solidFill>
                  <a:srgbClr val="E6EEF7"/>
                </a:solidFill>
                <a:latin typeface="Noto Sans CJK SC"/>
              </a:rPr>
              <a:t>单轮决策+parallel_tool_calls</a:t>
            </a:r>
          </a:p>
          <a:p>
            <a:pPr>
              <a:spcAft>
                <a:spcPts val="200"/>
              </a:spcAft>
            </a:pPr>
            <a:r>
              <a:rPr sz="1100" b="0">
                <a:solidFill>
                  <a:srgbClr val="E6EEF7"/>
                </a:solidFill>
                <a:latin typeface="Noto Sans CJK SC"/>
              </a:rPr>
              <a:t>证据不足自动回退</a:t>
            </a:r>
          </a:p>
          <a:p>
            <a:pPr>
              <a:spcAft>
                <a:spcPts val="200"/>
              </a:spcAft>
            </a:pPr>
            <a:r>
              <a:rPr sz="1100" b="0">
                <a:solidFill>
                  <a:srgbClr val="E6EEF7"/>
                </a:solidFill>
                <a:latin typeface="Noto Sans CJK SC"/>
              </a:rPr>
              <a:t>轮次预算防失控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100000" y="1250000"/>
            <a:ext cx="3600000" cy="2900000"/>
          </a:xfrm>
          <a:prstGeom prst="roundRect">
            <a:avLst/>
          </a:prstGeom>
          <a:solidFill>
            <a:srgbClr val="121E33"/>
          </a:solidFill>
          <a:ln w="9525">
            <a:solidFill>
              <a:srgbClr val="243B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0000" tIns="80000"/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BB424"/>
                </a:solidFill>
                <a:latin typeface="Noto Sans CJK SC"/>
              </a:rPr>
              <a:t>分析链路 · P-E-C</a:t>
            </a:r>
          </a:p>
          <a:p>
            <a:pPr>
              <a:spcAft>
                <a:spcPts val="200"/>
              </a:spcAft>
            </a:pPr>
            <a:r>
              <a:rPr sz="1100" b="0">
                <a:solidFill>
                  <a:srgbClr val="E6EEF7"/>
                </a:solidFill>
                <a:latin typeface="Noto Sans CJK SC"/>
              </a:rPr>
              <a:t>聚合统计→提纲→逐节→校验</a:t>
            </a:r>
          </a:p>
          <a:p>
            <a:pPr>
              <a:spcAft>
                <a:spcPts val="200"/>
              </a:spcAft>
            </a:pPr>
            <a:r>
              <a:rPr sz="1100" b="0">
                <a:solidFill>
                  <a:srgbClr val="E6EEF7"/>
                </a:solidFill>
                <a:latin typeface="Noto Sans CJK SC"/>
              </a:rPr>
              <a:t>LLM 不可用时模板兜底</a:t>
            </a:r>
          </a:p>
          <a:p>
            <a:pPr>
              <a:spcAft>
                <a:spcPts val="200"/>
              </a:spcAft>
            </a:pPr>
            <a:r>
              <a:rPr sz="1100" b="0">
                <a:solidFill>
                  <a:srgbClr val="E6EEF7"/>
                </a:solidFill>
                <a:latin typeface="Noto Sans CJK SC"/>
              </a:rPr>
              <a:t>日报自动产出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0000" y="4400000"/>
            <a:ext cx="11100000" cy="1400000"/>
          </a:xfrm>
          <a:prstGeom prst="roundRect">
            <a:avLst/>
          </a:prstGeom>
          <a:solidFill>
            <a:srgbClr val="121E33"/>
          </a:solidFill>
          <a:ln w="9525">
            <a:solidFill>
              <a:srgbClr val="243B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0000" tIns="80000"/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38BDF8"/>
                </a:solidFill>
                <a:latin typeface="Noto Sans CJK SC"/>
              </a:rPr>
              <a:t>生产级能力</a:t>
            </a:r>
          </a:p>
          <a:p>
            <a:pPr>
              <a:spcAft>
                <a:spcPts val="200"/>
              </a:spcAft>
            </a:pPr>
            <a:r>
              <a:rPr sz="1100" b="0">
                <a:solidFill>
                  <a:srgbClr val="E6EEF7"/>
                </a:solidFill>
                <a:latin typeface="Noto Sans CJK SC"/>
              </a:rPr>
              <a:t>PostgreSQL checkpointer durable execution（崩溃后 POST /api/pipeline/resume/{run_id} 断点续跑，可现场演示）</a:t>
            </a:r>
          </a:p>
          <a:p>
            <a:pPr>
              <a:spcAft>
                <a:spcPts val="200"/>
              </a:spcAft>
            </a:pPr>
            <a:r>
              <a:rPr sz="1100" b="0">
                <a:solidFill>
                  <a:srgbClr val="E6EEF7"/>
                </a:solidFill>
                <a:latin typeface="Noto Sans CJK SC"/>
              </a:rPr>
              <a:t>HITL 复核队列 confirm/reject/undo 闭环 · handoff 弹跳预算 · worker 只回结论防上下文膨胀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4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0000" y="280000"/>
            <a:ext cx="11200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1">
                <a:solidFill>
                  <a:srgbClr val="38BDF8"/>
                </a:solidFill>
                <a:latin typeface="Noto Sans CJK SC"/>
              </a:rPr>
              <a:t>AI 安全知识底座</a:t>
            </a:r>
          </a:p>
          <a:p>
            <a:pPr>
              <a:spcAft>
                <a:spcPts val="400"/>
              </a:spcAft>
            </a:pPr>
            <a:r>
              <a:rPr sz="2800" b="1">
                <a:solidFill>
                  <a:srgbClr val="E6EEF7"/>
                </a:solidFill>
                <a:latin typeface="Noto Sans CJK SC"/>
              </a:rPr>
              <a:t>L1–L6 资产分层 × OWASP × ATLAS × 中文政策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0000" y="1250000"/>
            <a:ext cx="5600000" cy="2900000"/>
          </a:xfrm>
          <a:prstGeom prst="roundRect">
            <a:avLst/>
          </a:prstGeom>
          <a:solidFill>
            <a:srgbClr val="121E33"/>
          </a:solidFill>
          <a:ln w="9525">
            <a:solidFill>
              <a:srgbClr val="243B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0000" tIns="80000"/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38BDF8"/>
                </a:solidFill>
                <a:latin typeface="Noto Sans CJK SC"/>
              </a:rPr>
              <a:t>三维情报立方体</a:t>
            </a:r>
          </a:p>
          <a:p>
            <a:pPr>
              <a:spcAft>
                <a:spcPts val="200"/>
              </a:spcAft>
            </a:pPr>
            <a:r>
              <a:rPr sz="1100" b="0">
                <a:solidFill>
                  <a:srgbClr val="E6EEF7"/>
                </a:solidFill>
                <a:latin typeface="Noto Sans CJK SC"/>
              </a:rPr>
              <a:t>L1 基础设施/推理 · L2 模型/数据 · L3 应用/智能体</a:t>
            </a:r>
          </a:p>
          <a:p>
            <a:pPr>
              <a:spcAft>
                <a:spcPts val="200"/>
              </a:spcAft>
            </a:pPr>
            <a:r>
              <a:rPr sz="1100" b="0">
                <a:solidFill>
                  <a:srgbClr val="E6EEF7"/>
                </a:solidFill>
                <a:latin typeface="Noto Sans CJK SC"/>
              </a:rPr>
              <a:t>L4 供应链 · L5 政策治理 · L6 滥用威胁</a:t>
            </a:r>
          </a:p>
          <a:p>
            <a:pPr>
              <a:spcAft>
                <a:spcPts val="200"/>
              </a:spcAft>
            </a:pPr>
            <a:r>
              <a:rPr sz="1100" b="0">
                <a:solidFill>
                  <a:srgbClr val="E6EEF7"/>
                </a:solidFill>
                <a:latin typeface="Noto Sans CJK SC"/>
              </a:rPr>
              <a:t>OWASP LLM Top10 + ASI Agentic Top10 双标签</a:t>
            </a:r>
          </a:p>
          <a:p>
            <a:pPr>
              <a:spcAft>
                <a:spcPts val="200"/>
              </a:spcAft>
            </a:pPr>
            <a:r>
              <a:rPr sz="1100" b="0">
                <a:solidFill>
                  <a:srgbClr val="E6EEF7"/>
                </a:solidFill>
                <a:latin typeface="Noto Sans CJK SC"/>
              </a:rPr>
              <a:t>ATT&amp;CK/ATLAS 双框架技术映射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300000" y="1250000"/>
            <a:ext cx="5300000" cy="2900000"/>
          </a:xfrm>
          <a:prstGeom prst="roundRect">
            <a:avLst/>
          </a:prstGeom>
          <a:solidFill>
            <a:srgbClr val="121E33"/>
          </a:solidFill>
          <a:ln w="9525">
            <a:solidFill>
              <a:srgbClr val="243B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0000" tIns="80000"/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34D399"/>
                </a:solidFill>
                <a:latin typeface="Noto Sans CJK SC"/>
              </a:rPr>
              <a:t>别人没有的那一层</a:t>
            </a:r>
          </a:p>
          <a:p>
            <a:pPr>
              <a:spcAft>
                <a:spcPts val="200"/>
              </a:spcAft>
            </a:pPr>
            <a:r>
              <a:rPr sz="1100" b="0">
                <a:solidFill>
                  <a:srgbClr val="E6EEF7"/>
                </a:solidFill>
                <a:latin typeface="Noto Sans CJK SC"/>
              </a:rPr>
              <a:t>CVE+非CVE 双轨：incident/article/policy 同库同问答</a:t>
            </a:r>
          </a:p>
          <a:p>
            <a:pPr>
              <a:spcAft>
                <a:spcPts val="200"/>
              </a:spcAft>
            </a:pPr>
            <a:r>
              <a:rPr sz="1100" b="0">
                <a:solidFill>
                  <a:srgbClr val="E6EEF7"/>
                </a:solidFill>
                <a:latin typeface="Noto Sans CJK SC"/>
              </a:rPr>
              <a:t>中文政策源（网信办/TC260/GB）国际平台零覆盖</a:t>
            </a:r>
          </a:p>
          <a:p>
            <a:pPr>
              <a:spcAft>
                <a:spcPts val="200"/>
              </a:spcAft>
            </a:pPr>
            <a:r>
              <a:rPr sz="1100" b="0">
                <a:solidFill>
                  <a:srgbClr val="E6EEF7"/>
                </a:solidFill>
                <a:latin typeface="Noto Sans CJK SC"/>
              </a:rPr>
              <a:t>影子漏洞标注（disputed-but-exploited）</a:t>
            </a:r>
          </a:p>
          <a:p>
            <a:pPr>
              <a:spcAft>
                <a:spcPts val="200"/>
              </a:spcAft>
            </a:pPr>
            <a:r>
              <a:rPr sz="1100" b="0">
                <a:solidFill>
                  <a:srgbClr val="E6EEF7"/>
                </a:solidFill>
                <a:latin typeface="Noto Sans CJK SC"/>
              </a:rPr>
              <a:t>KG：Item-CVE-CWE-Technique-Product-Vendor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0000" y="4400000"/>
            <a:ext cx="11100000" cy="1100000"/>
          </a:xfrm>
          <a:prstGeom prst="roundRect">
            <a:avLst/>
          </a:prstGeom>
          <a:solidFill>
            <a:srgbClr val="121E33"/>
          </a:solidFill>
          <a:ln w="9525">
            <a:solidFill>
              <a:srgbClr val="243B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0000" tIns="80000"/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BB424"/>
                </a:solidFill>
                <a:latin typeface="Noto Sans CJK SC"/>
              </a:rPr>
              <a:t>实测</a:t>
            </a:r>
          </a:p>
          <a:p>
            <a:pPr>
              <a:spcAft>
                <a:spcPts val="200"/>
              </a:spcAft>
            </a:pPr>
            <a:r>
              <a:rPr sz="1100" b="0">
                <a:solidFill>
                  <a:srgbClr val="E6EEF7"/>
                </a:solidFill>
                <a:latin typeface="Noto Sans CJK SC"/>
              </a:rPr>
              <a:t>AI 相关条目 2,949 条（L1 2649/L2 145/L3 2659/L4 125/L5 28/L6 14）· KG 52,844 节点 84,735 边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4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0000" y="280000"/>
            <a:ext cx="11200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1">
                <a:solidFill>
                  <a:srgbClr val="38BDF8"/>
                </a:solidFill>
                <a:latin typeface="Noto Sans CJK SC"/>
              </a:rPr>
              <a:t>场景演示 · 系统实景</a:t>
            </a:r>
          </a:p>
          <a:p>
            <a:pPr>
              <a:spcAft>
                <a:spcPts val="400"/>
              </a:spcAft>
            </a:pPr>
            <a:r>
              <a:rPr sz="2800" b="1">
                <a:solidFill>
                  <a:srgbClr val="E6EEF7"/>
                </a:solidFill>
                <a:latin typeface="Noto Sans CJK SC"/>
              </a:rPr>
              <a:t>一个 SOC 的早晨：从告警到日报，无人值守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0000" y="1150000"/>
            <a:ext cx="5500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000" b="1">
                <a:solidFill>
                  <a:srgbClr val="34D399"/>
                </a:solidFill>
                <a:latin typeface="Noto Sans CJK SC"/>
              </a:rPr>
              <a:t>今日值班台 · 待复核/高优/KEV 队列 + 实时流</a:t>
            </a:r>
          </a:p>
        </p:txBody>
      </p:sp>
      <p:pic>
        <p:nvPicPr>
          <p:cNvPr id="4" name="Picture 3" descr="01-du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000" y="1390000"/>
            <a:ext cx="5500000" cy="3094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250000" y="1150000"/>
            <a:ext cx="5500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000" b="1">
                <a:solidFill>
                  <a:srgbClr val="34D399"/>
                </a:solidFill>
                <a:latin typeface="Noto Sans CJK SC"/>
              </a:rPr>
              <a:t>情报卡 · 评分溯源/富化维度/标识符</a:t>
            </a:r>
          </a:p>
        </p:txBody>
      </p:sp>
      <p:pic>
        <p:nvPicPr>
          <p:cNvPr id="6" name="Picture 5" descr="03-item-detai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50000" y="1390000"/>
            <a:ext cx="5500000" cy="30940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0000" y="4150000"/>
            <a:ext cx="5500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000" b="1">
                <a:solidFill>
                  <a:srgbClr val="34D399"/>
                </a:solidFill>
                <a:latin typeface="Noto Sans CJK SC"/>
              </a:rPr>
              <a:t>深度问答 · 行内引用/推理链 13 步/证据面板</a:t>
            </a:r>
          </a:p>
        </p:txBody>
      </p:sp>
      <p:pic>
        <p:nvPicPr>
          <p:cNvPr id="8" name="Picture 7" descr="10-qa-answe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0000" y="4390000"/>
            <a:ext cx="5500000" cy="30940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250000" y="4150000"/>
            <a:ext cx="5500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000" b="1">
                <a:solidFill>
                  <a:srgbClr val="34D399"/>
                </a:solidFill>
                <a:latin typeface="Noto Sans CJK SC"/>
              </a:rPr>
              <a:t>HITL 复核队列 · 确认/回炉/重富化/撤销</a:t>
            </a:r>
          </a:p>
        </p:txBody>
      </p:sp>
      <p:pic>
        <p:nvPicPr>
          <p:cNvPr id="10" name="Picture 9" descr="04-revie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50000" y="4390000"/>
            <a:ext cx="5500000" cy="30940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50000" y="6600000"/>
            <a:ext cx="1130000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0">
                <a:solidFill>
                  <a:srgbClr val="9AB0C8"/>
                </a:solidFill>
                <a:latin typeface="Noto Sans CJK SC"/>
              </a:rPr>
              <a:t>演示流：值班台态势 → 新 CVE 15min 入库 → 8 worker 富化全景 → 多跳问答带引用 → 画像推荐+日报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4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0000" y="280000"/>
            <a:ext cx="11200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1">
                <a:solidFill>
                  <a:srgbClr val="38BDF8"/>
                </a:solidFill>
                <a:latin typeface="Noto Sans CJK SC"/>
              </a:rPr>
              <a:t>性能数字收口</a:t>
            </a:r>
          </a:p>
          <a:p>
            <a:pPr>
              <a:spcAft>
                <a:spcPts val="400"/>
              </a:spcAft>
            </a:pPr>
            <a:r>
              <a:rPr sz="2800" b="1">
                <a:solidFill>
                  <a:srgbClr val="E6EEF7"/>
                </a:solidFill>
                <a:latin typeface="Noto Sans CJK SC"/>
              </a:rPr>
              <a:t>满分线 vs 实测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700000" y="1300000"/>
          <a:ext cx="10800000" cy="34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00000"/>
                <a:gridCol w="3600000"/>
                <a:gridCol w="3600000"/>
              </a:tblGrid>
              <a:tr h="485714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38BDF8"/>
                          </a:solidFill>
                          <a:latin typeface="Noto Sans CJK SC"/>
                        </a:rPr>
                        <a:t>评分项</a:t>
                      </a:r>
                    </a:p>
                  </a:txBody>
                  <a:tcPr>
                    <a:solidFill>
                      <a:srgbClr val="0F1A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38BDF8"/>
                          </a:solidFill>
                          <a:latin typeface="Noto Sans CJK SC"/>
                        </a:rPr>
                        <a:t>满分线</a:t>
                      </a:r>
                    </a:p>
                  </a:txBody>
                  <a:tcPr>
                    <a:solidFill>
                      <a:srgbClr val="0F1A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38BDF8"/>
                          </a:solidFill>
                          <a:latin typeface="Noto Sans CJK SC"/>
                        </a:rPr>
                        <a:t>实测</a:t>
                      </a:r>
                    </a:p>
                  </a:txBody>
                  <a:tcPr>
                    <a:solidFill>
                      <a:srgbClr val="0F1A2E"/>
                    </a:solidFill>
                  </a:tcPr>
                </a:tc>
              </a:tr>
              <a:tr h="485714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E6EEF7"/>
                          </a:solidFill>
                          <a:latin typeface="Noto Sans CJK SC"/>
                        </a:rPr>
                        <a:t>数据源覆盖</a:t>
                      </a:r>
                    </a:p>
                  </a:txBody>
                  <a:tcPr>
                    <a:solidFill>
                      <a:srgbClr val="121E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E6EEF7"/>
                          </a:solidFill>
                          <a:latin typeface="Noto Sans CJK SC"/>
                        </a:rPr>
                        <a:t>≥7 类</a:t>
                      </a:r>
                    </a:p>
                  </a:txBody>
                  <a:tcPr>
                    <a:solidFill>
                      <a:srgbClr val="121E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E6EEF7"/>
                          </a:solidFill>
                          <a:latin typeface="Noto Sans CJK SC"/>
                        </a:rPr>
                        <a:t>11 类 / 41 源</a:t>
                      </a:r>
                    </a:p>
                  </a:txBody>
                  <a:tcPr>
                    <a:solidFill>
                      <a:srgbClr val="121E33"/>
                    </a:solidFill>
                  </a:tcPr>
                </a:tc>
              </a:tr>
              <a:tr h="485714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E6EEF7"/>
                          </a:solidFill>
                          <a:latin typeface="Noto Sans CJK SC"/>
                        </a:rPr>
                        <a:t>监测时效</a:t>
                      </a:r>
                    </a:p>
                  </a:txBody>
                  <a:tcPr>
                    <a:solidFill>
                      <a:srgbClr val="0F1A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E6EEF7"/>
                          </a:solidFill>
                          <a:latin typeface="Noto Sans CJK SC"/>
                        </a:rPr>
                        <a:t>≤6h</a:t>
                      </a:r>
                    </a:p>
                  </a:txBody>
                  <a:tcPr>
                    <a:solidFill>
                      <a:srgbClr val="0F1A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E6EEF7"/>
                          </a:solidFill>
                          <a:latin typeface="Noto Sans CJK SC"/>
                        </a:rPr>
                        <a:t>≤1h（cvelistV5 增量 p50≈30min）</a:t>
                      </a:r>
                    </a:p>
                  </a:txBody>
                  <a:tcPr>
                    <a:solidFill>
                      <a:srgbClr val="0F1A2E"/>
                    </a:solidFill>
                  </a:tcPr>
                </a:tc>
              </a:tr>
              <a:tr h="485714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E6EEF7"/>
                          </a:solidFill>
                          <a:latin typeface="Noto Sans CJK SC"/>
                        </a:rPr>
                        <a:t>富化维度/准确率</a:t>
                      </a:r>
                    </a:p>
                  </a:txBody>
                  <a:tcPr>
                    <a:solidFill>
                      <a:srgbClr val="121E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E6EEF7"/>
                          </a:solidFill>
                          <a:latin typeface="Noto Sans CJK SC"/>
                        </a:rPr>
                        <a:t>≥5 维 / ≥95%</a:t>
                      </a:r>
                    </a:p>
                  </a:txBody>
                  <a:tcPr>
                    <a:solidFill>
                      <a:srgbClr val="121E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E6EEF7"/>
                          </a:solidFill>
                          <a:latin typeface="Noto Sans CJK SC"/>
                        </a:rPr>
                        <a:t>8 worker 10+ 维 / 准确率 99.2%·召回 100%</a:t>
                      </a:r>
                    </a:p>
                  </a:txBody>
                  <a:tcPr>
                    <a:solidFill>
                      <a:srgbClr val="121E33"/>
                    </a:solidFill>
                  </a:tcPr>
                </a:tc>
              </a:tr>
              <a:tr h="485714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E6EEF7"/>
                          </a:solidFill>
                          <a:latin typeface="Noto Sans CJK SC"/>
                        </a:rPr>
                        <a:t>问答质量</a:t>
                      </a:r>
                    </a:p>
                  </a:txBody>
                  <a:tcPr>
                    <a:solidFill>
                      <a:srgbClr val="0F1A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E6EEF7"/>
                          </a:solidFill>
                          <a:latin typeface="Noto Sans CJK SC"/>
                        </a:rPr>
                        <a:t>多跳≥85%、≤5s</a:t>
                      </a:r>
                    </a:p>
                  </a:txBody>
                  <a:tcPr>
                    <a:solidFill>
                      <a:srgbClr val="0F1A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E6EEF7"/>
                          </a:solidFill>
                          <a:latin typeface="Noto Sans CJK SC"/>
                        </a:rPr>
                        <a:t>多跳 95.8%·整体 97.9%·快路径 3.2s·深度 p50 8.9s</a:t>
                      </a:r>
                    </a:p>
                  </a:txBody>
                  <a:tcPr>
                    <a:solidFill>
                      <a:srgbClr val="0F1A2E"/>
                    </a:solidFill>
                  </a:tcPr>
                </a:tc>
              </a:tr>
              <a:tr h="485714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E6EEF7"/>
                          </a:solidFill>
                          <a:latin typeface="Noto Sans CJK SC"/>
                        </a:rPr>
                        <a:t>数据规模</a:t>
                      </a:r>
                    </a:p>
                  </a:txBody>
                  <a:tcPr>
                    <a:solidFill>
                      <a:srgbClr val="121E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E6EEF7"/>
                          </a:solidFill>
                          <a:latin typeface="Noto Sans CJK SC"/>
                        </a:rPr>
                        <a:t>—</a:t>
                      </a:r>
                    </a:p>
                  </a:txBody>
                  <a:tcPr>
                    <a:solidFill>
                      <a:srgbClr val="121E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E6EEF7"/>
                          </a:solidFill>
                          <a:latin typeface="Noto Sans CJK SC"/>
                        </a:rPr>
                        <a:t>50,277 情报 / 52,844 KG 节点 / 84,735 边</a:t>
                      </a:r>
                    </a:p>
                  </a:txBody>
                  <a:tcPr>
                    <a:solidFill>
                      <a:srgbClr val="121E33"/>
                    </a:solidFill>
                  </a:tcPr>
                </a:tc>
              </a:tr>
              <a:tr h="485716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E6EEF7"/>
                          </a:solidFill>
                          <a:latin typeface="Noto Sans CJK SC"/>
                        </a:rPr>
                        <a:t>运维自愈</a:t>
                      </a:r>
                    </a:p>
                  </a:txBody>
                  <a:tcPr>
                    <a:solidFill>
                      <a:srgbClr val="0F1A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E6EEF7"/>
                          </a:solidFill>
                          <a:latin typeface="Noto Sans CJK SC"/>
                        </a:rPr>
                        <a:t>—</a:t>
                      </a:r>
                    </a:p>
                  </a:txBody>
                  <a:tcPr>
                    <a:solidFill>
                      <a:srgbClr val="0F1A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E6EEF7"/>
                          </a:solidFill>
                          <a:latin typeface="Noto Sans CJK SC"/>
                        </a:rPr>
                        <a:t>systemd 三服务+compose 重启策略，断电自愈</a:t>
                      </a:r>
                    </a:p>
                  </a:txBody>
                  <a:tcPr>
                    <a:solidFill>
                      <a:srgbClr val="0F1A2E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700000" y="5000000"/>
            <a:ext cx="1080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9AB0C8"/>
                </a:solidFill>
                <a:latin typeface="Noto Sans CJK SC"/>
              </a:rPr>
              <a:t>评测集 12 题 · 方法=关键词命中+引用存在性校验 · reports/eval_qa.json 可现场重跑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4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0000" y="280000"/>
            <a:ext cx="11200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1">
                <a:solidFill>
                  <a:srgbClr val="38BDF8"/>
                </a:solidFill>
                <a:latin typeface="Noto Sans CJK SC"/>
              </a:rPr>
              <a:t>工程化 · 10分</a:t>
            </a:r>
          </a:p>
          <a:p>
            <a:pPr>
              <a:spcAft>
                <a:spcPts val="400"/>
              </a:spcAft>
            </a:pPr>
            <a:r>
              <a:rPr sz="2800" b="1">
                <a:solidFill>
                  <a:srgbClr val="E6EEF7"/>
                </a:solidFill>
                <a:latin typeface="Noto Sans CJK SC"/>
              </a:rPr>
              <a:t>全流程无人值守 · 五条降级线 · 一键部署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0000" y="1250000"/>
            <a:ext cx="5600000" cy="2900000"/>
          </a:xfrm>
          <a:prstGeom prst="roundRect">
            <a:avLst/>
          </a:prstGeom>
          <a:solidFill>
            <a:srgbClr val="121E33"/>
          </a:solidFill>
          <a:ln w="9525">
            <a:solidFill>
              <a:srgbClr val="243B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0000" tIns="80000"/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38BDF8"/>
                </a:solidFill>
                <a:latin typeface="Noto Sans CJK SC"/>
              </a:rPr>
              <a:t>部署与自愈</a:t>
            </a:r>
          </a:p>
          <a:p>
            <a:pPr>
              <a:spcAft>
                <a:spcPts val="200"/>
              </a:spcAft>
            </a:pPr>
            <a:r>
              <a:rPr sz="1100" b="0">
                <a:solidFill>
                  <a:srgbClr val="E6EEF7"/>
                </a:solidFill>
                <a:latin typeface="Noto Sans CJK SC"/>
              </a:rPr>
              <a:t>docker-compose 全栈一键起（PG/Qdrant/Neo4j/Redis）</a:t>
            </a:r>
          </a:p>
          <a:p>
            <a:pPr>
              <a:spcAft>
                <a:spcPts val="200"/>
              </a:spcAft>
            </a:pPr>
            <a:r>
              <a:rPr sz="1100" b="0">
                <a:solidFill>
                  <a:srgbClr val="E6EEF7"/>
                </a:solidFill>
                <a:latin typeface="Noto Sans CJK SC"/>
              </a:rPr>
              <a:t>user systemd 三服务 + linger 开机拉起</a:t>
            </a:r>
          </a:p>
          <a:p>
            <a:pPr>
              <a:spcAft>
                <a:spcPts val="200"/>
              </a:spcAft>
            </a:pPr>
            <a:r>
              <a:rPr sz="1100" b="0">
                <a:solidFill>
                  <a:srgbClr val="E6EEF7"/>
                </a:solidFill>
                <a:latin typeface="Noto Sans CJK SC"/>
              </a:rPr>
              <a:t>Prometheus + Grafana 监控告警</a:t>
            </a:r>
          </a:p>
          <a:p>
            <a:pPr>
              <a:spcAft>
                <a:spcPts val="200"/>
              </a:spcAft>
            </a:pPr>
            <a:r>
              <a:rPr sz="1100" b="0">
                <a:solidFill>
                  <a:srgbClr val="E6EEF7"/>
                </a:solidFill>
                <a:latin typeface="Noto Sans CJK SC"/>
              </a:rPr>
              <a:t>幂等重放 + SAVEPOINT 事务隔离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300000" y="1250000"/>
            <a:ext cx="5300000" cy="2900000"/>
          </a:xfrm>
          <a:prstGeom prst="roundRect">
            <a:avLst/>
          </a:prstGeom>
          <a:solidFill>
            <a:srgbClr val="121E33"/>
          </a:solidFill>
          <a:ln w="9525">
            <a:solidFill>
              <a:srgbClr val="243B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0000" tIns="80000"/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34D399"/>
                </a:solidFill>
                <a:latin typeface="Noto Sans CJK SC"/>
              </a:rPr>
              <a:t>降级矩阵（真实踩出来的）</a:t>
            </a:r>
          </a:p>
          <a:p>
            <a:pPr>
              <a:spcAft>
                <a:spcPts val="200"/>
              </a:spcAft>
            </a:pPr>
            <a:r>
              <a:rPr sz="1100" b="0">
                <a:solidFill>
                  <a:srgbClr val="E6EEF7"/>
                </a:solidFill>
                <a:latin typeface="Noto Sans CJK SC"/>
              </a:rPr>
              <a:t>cisa.gov 不可达 → GitHub KEV 官方镜像</a:t>
            </a:r>
          </a:p>
          <a:p>
            <a:pPr>
              <a:spcAft>
                <a:spcPts val="200"/>
              </a:spcAft>
            </a:pPr>
            <a:r>
              <a:rPr sz="1100" b="0">
                <a:solidFill>
                  <a:srgbClr val="E6EEF7"/>
                </a:solidFill>
                <a:latin typeface="Noto Sans CJK SC"/>
              </a:rPr>
              <a:t>GitHub API 403/限流 → 降级不阻塞</a:t>
            </a:r>
          </a:p>
          <a:p>
            <a:pPr>
              <a:spcAft>
                <a:spcPts val="200"/>
              </a:spcAft>
            </a:pPr>
            <a:r>
              <a:rPr sz="1100" b="0">
                <a:solidFill>
                  <a:srgbClr val="E6EEF7"/>
                </a:solidFill>
                <a:latin typeface="Noto Sans CJK SC"/>
              </a:rPr>
              <a:t>Hunter 无 API 权限 → is_simulated 模拟标注</a:t>
            </a:r>
          </a:p>
          <a:p>
            <a:pPr>
              <a:spcAft>
                <a:spcPts val="200"/>
              </a:spcAft>
            </a:pPr>
            <a:r>
              <a:rPr sz="1100" b="0">
                <a:solidFill>
                  <a:srgbClr val="E6EEF7"/>
                </a:solidFill>
                <a:latin typeface="Noto Sans CJK SC"/>
              </a:rPr>
              <a:t>GPU 驱动异常 → CPU ONNX 全链路</a:t>
            </a:r>
          </a:p>
          <a:p>
            <a:pPr>
              <a:spcAft>
                <a:spcPts val="200"/>
              </a:spcAft>
            </a:pPr>
            <a:r>
              <a:rPr sz="1100" b="0">
                <a:solidFill>
                  <a:srgbClr val="E6EEF7"/>
                </a:solidFill>
                <a:latin typeface="Noto Sans CJK SC"/>
              </a:rPr>
              <a:t>LLM key 缺失 → 确定性模板兜底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4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0000" y="280000"/>
            <a:ext cx="11200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1">
                <a:solidFill>
                  <a:srgbClr val="38BDF8"/>
                </a:solidFill>
                <a:latin typeface="Noto Sans CJK SC"/>
              </a:rPr>
              <a:t>与现有方案对比</a:t>
            </a:r>
          </a:p>
          <a:p>
            <a:pPr>
              <a:spcAft>
                <a:spcPts val="400"/>
              </a:spcAft>
            </a:pPr>
            <a:r>
              <a:rPr sz="2800" b="1">
                <a:solidFill>
                  <a:srgbClr val="E6EEF7"/>
                </a:solidFill>
                <a:latin typeface="Noto Sans CJK SC"/>
              </a:rPr>
              <a:t>为什么是捞针 · Nereid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600000" y="1300000"/>
          <a:ext cx="11000000" cy="36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50000"/>
                <a:gridCol w="2750000"/>
                <a:gridCol w="2750000"/>
                <a:gridCol w="2750000"/>
              </a:tblGrid>
              <a:tr h="4500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38BDF8"/>
                          </a:solidFill>
                          <a:latin typeface="Noto Sans CJK SC"/>
                        </a:rPr>
                        <a:t>维度</a:t>
                      </a:r>
                    </a:p>
                  </a:txBody>
                  <a:tcPr>
                    <a:solidFill>
                      <a:srgbClr val="0F1A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38BDF8"/>
                          </a:solidFill>
                          <a:latin typeface="Noto Sans CJK SC"/>
                        </a:rPr>
                        <a:t>通用漏洞库</a:t>
                      </a:r>
                    </a:p>
                  </a:txBody>
                  <a:tcPr>
                    <a:solidFill>
                      <a:srgbClr val="0F1A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38BDF8"/>
                          </a:solidFill>
                          <a:latin typeface="Noto Sans CJK SC"/>
                        </a:rPr>
                        <a:t>商用 TI 平台</a:t>
                      </a:r>
                    </a:p>
                  </a:txBody>
                  <a:tcPr>
                    <a:solidFill>
                      <a:srgbClr val="0F1A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38BDF8"/>
                          </a:solidFill>
                          <a:latin typeface="Noto Sans CJK SC"/>
                        </a:rPr>
                        <a:t>捞针·Nereid</a:t>
                      </a:r>
                    </a:p>
                  </a:txBody>
                  <a:tcPr>
                    <a:solidFill>
                      <a:srgbClr val="0F1A2E"/>
                    </a:solidFill>
                  </a:tcPr>
                </a:tc>
              </a:tr>
              <a:tr h="45000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E6EEF7"/>
                          </a:solidFill>
                          <a:latin typeface="Noto Sans CJK SC"/>
                        </a:rPr>
                        <a:t>AI 资产视角立方体</a:t>
                      </a:r>
                    </a:p>
                  </a:txBody>
                  <a:tcPr>
                    <a:solidFill>
                      <a:srgbClr val="121E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E6EEF7"/>
                          </a:solidFill>
                          <a:latin typeface="Noto Sans CJK SC"/>
                        </a:rPr>
                        <a:t>无</a:t>
                      </a:r>
                    </a:p>
                  </a:txBody>
                  <a:tcPr>
                    <a:solidFill>
                      <a:srgbClr val="121E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E6EEF7"/>
                          </a:solidFill>
                          <a:latin typeface="Noto Sans CJK SC"/>
                        </a:rPr>
                        <a:t>无</a:t>
                      </a:r>
                    </a:p>
                  </a:txBody>
                  <a:tcPr>
                    <a:solidFill>
                      <a:srgbClr val="121E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E6EEF7"/>
                          </a:solidFill>
                          <a:latin typeface="Noto Sans CJK SC"/>
                        </a:rPr>
                        <a:t>L1–L6×OWASP×ATLAS</a:t>
                      </a:r>
                    </a:p>
                  </a:txBody>
                  <a:tcPr>
                    <a:solidFill>
                      <a:srgbClr val="121E33"/>
                    </a:solidFill>
                  </a:tcPr>
                </a:tc>
              </a:tr>
              <a:tr h="45000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E6EEF7"/>
                          </a:solidFill>
                          <a:latin typeface="Noto Sans CJK SC"/>
                        </a:rPr>
                        <a:t>非 CVE 情报(事件/政策)</a:t>
                      </a:r>
                    </a:p>
                  </a:txBody>
                  <a:tcPr>
                    <a:solidFill>
                      <a:srgbClr val="0F1A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E6EEF7"/>
                          </a:solidFill>
                          <a:latin typeface="Noto Sans CJK SC"/>
                        </a:rPr>
                        <a:t>无</a:t>
                      </a:r>
                    </a:p>
                  </a:txBody>
                  <a:tcPr>
                    <a:solidFill>
                      <a:srgbClr val="0F1A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E6EEF7"/>
                          </a:solidFill>
                          <a:latin typeface="Noto Sans CJK SC"/>
                        </a:rPr>
                        <a:t>部分</a:t>
                      </a:r>
                    </a:p>
                  </a:txBody>
                  <a:tcPr>
                    <a:solidFill>
                      <a:srgbClr val="0F1A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E6EEF7"/>
                          </a:solidFill>
                          <a:latin typeface="Noto Sans CJK SC"/>
                        </a:rPr>
                        <a:t>双轨全覆盖</a:t>
                      </a:r>
                    </a:p>
                  </a:txBody>
                  <a:tcPr>
                    <a:solidFill>
                      <a:srgbClr val="0F1A2E"/>
                    </a:solidFill>
                  </a:tcPr>
                </a:tc>
              </a:tr>
              <a:tr h="45000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E6EEF7"/>
                          </a:solidFill>
                          <a:latin typeface="Noto Sans CJK SC"/>
                        </a:rPr>
                        <a:t>攻击链自动生成</a:t>
                      </a:r>
                    </a:p>
                  </a:txBody>
                  <a:tcPr>
                    <a:solidFill>
                      <a:srgbClr val="121E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E6EEF7"/>
                          </a:solidFill>
                          <a:latin typeface="Noto Sans CJK SC"/>
                        </a:rPr>
                        <a:t>无</a:t>
                      </a:r>
                    </a:p>
                  </a:txBody>
                  <a:tcPr>
                    <a:solidFill>
                      <a:srgbClr val="121E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E6EEF7"/>
                          </a:solidFill>
                          <a:latin typeface="Noto Sans CJK SC"/>
                        </a:rPr>
                        <a:t>手工</a:t>
                      </a:r>
                    </a:p>
                  </a:txBody>
                  <a:tcPr>
                    <a:solidFill>
                      <a:srgbClr val="121E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E6EEF7"/>
                          </a:solidFill>
                          <a:latin typeface="Noto Sans CJK SC"/>
                        </a:rPr>
                        <a:t>自动+可视化</a:t>
                      </a:r>
                    </a:p>
                  </a:txBody>
                  <a:tcPr>
                    <a:solidFill>
                      <a:srgbClr val="121E33"/>
                    </a:solidFill>
                  </a:tcPr>
                </a:tc>
              </a:tr>
              <a:tr h="45000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E6EEF7"/>
                          </a:solidFill>
                          <a:latin typeface="Noto Sans CJK SC"/>
                        </a:rPr>
                        <a:t>PoC 可信度分级</a:t>
                      </a:r>
                    </a:p>
                  </a:txBody>
                  <a:tcPr>
                    <a:solidFill>
                      <a:srgbClr val="0F1A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E6EEF7"/>
                          </a:solidFill>
                          <a:latin typeface="Noto Sans CJK SC"/>
                        </a:rPr>
                        <a:t>无</a:t>
                      </a:r>
                    </a:p>
                  </a:txBody>
                  <a:tcPr>
                    <a:solidFill>
                      <a:srgbClr val="0F1A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E6EEF7"/>
                          </a:solidFill>
                          <a:latin typeface="Noto Sans CJK SC"/>
                        </a:rPr>
                        <a:t>少</a:t>
                      </a:r>
                    </a:p>
                  </a:txBody>
                  <a:tcPr>
                    <a:solidFill>
                      <a:srgbClr val="0F1A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E6EEF7"/>
                          </a:solidFill>
                          <a:latin typeface="Noto Sans CJK SC"/>
                        </a:rPr>
                        <a:t>四级含恶意检测</a:t>
                      </a:r>
                    </a:p>
                  </a:txBody>
                  <a:tcPr>
                    <a:solidFill>
                      <a:srgbClr val="0F1A2E"/>
                    </a:solidFill>
                  </a:tcPr>
                </a:tc>
              </a:tr>
              <a:tr h="45000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E6EEF7"/>
                          </a:solidFill>
                          <a:latin typeface="Noto Sans CJK SC"/>
                        </a:rPr>
                        <a:t>中文政策源</a:t>
                      </a:r>
                    </a:p>
                  </a:txBody>
                  <a:tcPr>
                    <a:solidFill>
                      <a:srgbClr val="121E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E6EEF7"/>
                          </a:solidFill>
                          <a:latin typeface="Noto Sans CJK SC"/>
                        </a:rPr>
                        <a:t>无</a:t>
                      </a:r>
                    </a:p>
                  </a:txBody>
                  <a:tcPr>
                    <a:solidFill>
                      <a:srgbClr val="121E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E6EEF7"/>
                          </a:solidFill>
                          <a:latin typeface="Noto Sans CJK SC"/>
                        </a:rPr>
                        <a:t>无</a:t>
                      </a:r>
                    </a:p>
                  </a:txBody>
                  <a:tcPr>
                    <a:solidFill>
                      <a:srgbClr val="121E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E6EEF7"/>
                          </a:solidFill>
                          <a:latin typeface="Noto Sans CJK SC"/>
                        </a:rPr>
                        <a:t>网信办/TC260/GB</a:t>
                      </a:r>
                    </a:p>
                  </a:txBody>
                  <a:tcPr>
                    <a:solidFill>
                      <a:srgbClr val="121E33"/>
                    </a:solidFill>
                  </a:tcPr>
                </a:tc>
              </a:tr>
              <a:tr h="45000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E6EEF7"/>
                          </a:solidFill>
                          <a:latin typeface="Noto Sans CJK SC"/>
                        </a:rPr>
                        <a:t>多跳问答</a:t>
                      </a:r>
                    </a:p>
                  </a:txBody>
                  <a:tcPr>
                    <a:solidFill>
                      <a:srgbClr val="0F1A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E6EEF7"/>
                          </a:solidFill>
                          <a:latin typeface="Noto Sans CJK SC"/>
                        </a:rPr>
                        <a:t>无</a:t>
                      </a:r>
                    </a:p>
                  </a:txBody>
                  <a:tcPr>
                    <a:solidFill>
                      <a:srgbClr val="0F1A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E6EEF7"/>
                          </a:solidFill>
                          <a:latin typeface="Noto Sans CJK SC"/>
                        </a:rPr>
                        <a:t>弱</a:t>
                      </a:r>
                    </a:p>
                  </a:txBody>
                  <a:tcPr>
                    <a:solidFill>
                      <a:srgbClr val="0F1A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E6EEF7"/>
                          </a:solidFill>
                          <a:latin typeface="Noto Sans CJK SC"/>
                        </a:rPr>
                        <a:t>KG 桥接+引用+推理链</a:t>
                      </a:r>
                    </a:p>
                  </a:txBody>
                  <a:tcPr>
                    <a:solidFill>
                      <a:srgbClr val="0F1A2E"/>
                    </a:solidFill>
                  </a:tcPr>
                </a:tc>
              </a:tr>
              <a:tr h="45000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E6EEF7"/>
                          </a:solidFill>
                          <a:latin typeface="Noto Sans CJK SC"/>
                        </a:rPr>
                        <a:t>个性化推荐</a:t>
                      </a:r>
                    </a:p>
                  </a:txBody>
                  <a:tcPr>
                    <a:solidFill>
                      <a:srgbClr val="121E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E6EEF7"/>
                          </a:solidFill>
                          <a:latin typeface="Noto Sans CJK SC"/>
                        </a:rPr>
                        <a:t>无</a:t>
                      </a:r>
                    </a:p>
                  </a:txBody>
                  <a:tcPr>
                    <a:solidFill>
                      <a:srgbClr val="121E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E6EEF7"/>
                          </a:solidFill>
                          <a:latin typeface="Noto Sans CJK SC"/>
                        </a:rPr>
                        <a:t>订阅</a:t>
                      </a:r>
                    </a:p>
                  </a:txBody>
                  <a:tcPr>
                    <a:solidFill>
                      <a:srgbClr val="121E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E6EEF7"/>
                          </a:solidFill>
                          <a:latin typeface="Noto Sans CJK SC"/>
                        </a:rPr>
                        <a:t>画像驱动+理由回显+反馈闭环</a:t>
                      </a:r>
                    </a:p>
                  </a:txBody>
                  <a:tcPr>
                    <a:solidFill>
                      <a:srgbClr val="121E33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4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0000" y="280000"/>
            <a:ext cx="11200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1">
                <a:solidFill>
                  <a:srgbClr val="38BDF8"/>
                </a:solidFill>
                <a:latin typeface="Noto Sans CJK SC"/>
              </a:rPr>
              <a:t>创新点总结</a:t>
            </a:r>
          </a:p>
          <a:p>
            <a:pPr>
              <a:spcAft>
                <a:spcPts val="400"/>
              </a:spcAft>
            </a:pPr>
            <a:r>
              <a:rPr sz="2800" b="1">
                <a:solidFill>
                  <a:srgbClr val="E6EEF7"/>
                </a:solidFill>
                <a:latin typeface="Noto Sans CJK SC"/>
              </a:rPr>
              <a:t>差异化创新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00000" y="1300000"/>
            <a:ext cx="3500000" cy="1700000"/>
          </a:xfrm>
          <a:prstGeom prst="roundRect">
            <a:avLst/>
          </a:prstGeom>
          <a:solidFill>
            <a:srgbClr val="121E33"/>
          </a:solidFill>
          <a:ln w="9525">
            <a:solidFill>
              <a:srgbClr val="243B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0000" tIns="80000"/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38BDF8"/>
                </a:solidFill>
                <a:latin typeface="Noto Sans CJK SC"/>
              </a:rPr>
              <a:t>① AI 资产视角情报立方体</a:t>
            </a:r>
          </a:p>
          <a:p>
            <a:pPr>
              <a:spcAft>
                <a:spcPts val="200"/>
              </a:spcAft>
            </a:pPr>
            <a:r>
              <a:rPr sz="1100" b="0">
                <a:solidFill>
                  <a:srgbClr val="E6EEF7"/>
                </a:solidFill>
                <a:latin typeface="Noto Sans CJK SC"/>
              </a:rPr>
              <a:t>L1–L6×OWASP×ATLAS×政策 三维投影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300000" y="1300000"/>
            <a:ext cx="3500000" cy="1700000"/>
          </a:xfrm>
          <a:prstGeom prst="roundRect">
            <a:avLst/>
          </a:prstGeom>
          <a:solidFill>
            <a:srgbClr val="121E33"/>
          </a:solidFill>
          <a:ln w="9525">
            <a:solidFill>
              <a:srgbClr val="243B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0000" tIns="80000"/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34D399"/>
                </a:solidFill>
                <a:latin typeface="Noto Sans CJK SC"/>
              </a:rPr>
              <a:t>② CVE+非CVE 双轨</a:t>
            </a:r>
          </a:p>
          <a:p>
            <a:pPr>
              <a:spcAft>
                <a:spcPts val="200"/>
              </a:spcAft>
            </a:pPr>
            <a:r>
              <a:rPr sz="1100" b="0">
                <a:solidFill>
                  <a:srgbClr val="E6EEF7"/>
                </a:solidFill>
                <a:latin typeface="Noto Sans CJK SC"/>
              </a:rPr>
              <a:t>incident/policy 同库同问答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000000" y="1300000"/>
            <a:ext cx="3500000" cy="1700000"/>
          </a:xfrm>
          <a:prstGeom prst="roundRect">
            <a:avLst/>
          </a:prstGeom>
          <a:solidFill>
            <a:srgbClr val="121E33"/>
          </a:solidFill>
          <a:ln w="9525">
            <a:solidFill>
              <a:srgbClr val="243B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0000" tIns="80000"/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BB424"/>
                </a:solidFill>
                <a:latin typeface="Noto Sans CJK SC"/>
              </a:rPr>
              <a:t>③ 攻击链自动生成</a:t>
            </a:r>
          </a:p>
          <a:p>
            <a:pPr>
              <a:spcAft>
                <a:spcPts val="200"/>
              </a:spcAft>
            </a:pPr>
            <a:r>
              <a:rPr sz="1100" b="0">
                <a:solidFill>
                  <a:srgbClr val="E6EEF7"/>
                </a:solidFill>
                <a:latin typeface="Noto Sans CJK SC"/>
              </a:rPr>
              <a:t>确定性模板+LLM 润色+可视化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00000" y="3200000"/>
            <a:ext cx="3500000" cy="1700000"/>
          </a:xfrm>
          <a:prstGeom prst="roundRect">
            <a:avLst/>
          </a:prstGeom>
          <a:solidFill>
            <a:srgbClr val="121E33"/>
          </a:solidFill>
          <a:ln w="9525">
            <a:solidFill>
              <a:srgbClr val="243B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0000" tIns="80000"/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38BDF8"/>
                </a:solidFill>
                <a:latin typeface="Noto Sans CJK SC"/>
              </a:rPr>
              <a:t>④ PoC 四级可信度</a:t>
            </a:r>
          </a:p>
          <a:p>
            <a:pPr>
              <a:spcAft>
                <a:spcPts val="200"/>
              </a:spcAft>
            </a:pPr>
            <a:r>
              <a:rPr sz="1100" b="0">
                <a:solidFill>
                  <a:srgbClr val="E6EEF7"/>
                </a:solidFill>
                <a:latin typeface="Noto Sans CJK SC"/>
              </a:rPr>
              <a:t>含 7 类恶意特征静态检测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00000" y="3200000"/>
            <a:ext cx="3500000" cy="1700000"/>
          </a:xfrm>
          <a:prstGeom prst="roundRect">
            <a:avLst/>
          </a:prstGeom>
          <a:solidFill>
            <a:srgbClr val="121E33"/>
          </a:solidFill>
          <a:ln w="9525">
            <a:solidFill>
              <a:srgbClr val="243B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0000" tIns="80000"/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34D399"/>
                </a:solidFill>
                <a:latin typeface="Noto Sans CJK SC"/>
              </a:rPr>
              <a:t>⑤ 层级真值源富化</a:t>
            </a:r>
          </a:p>
          <a:p>
            <a:pPr>
              <a:spcAft>
                <a:spcPts val="200"/>
              </a:spcAft>
            </a:pPr>
            <a:r>
              <a:rPr sz="1100" b="0">
                <a:solidFill>
                  <a:srgbClr val="E6EEF7"/>
                </a:solidFill>
                <a:latin typeface="Noto Sans CJK SC"/>
              </a:rPr>
              <a:t>CNA+ADP→NVD Primary，cvss_source 溯源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00000" y="3200000"/>
            <a:ext cx="3500000" cy="1700000"/>
          </a:xfrm>
          <a:prstGeom prst="roundRect">
            <a:avLst/>
          </a:prstGeom>
          <a:solidFill>
            <a:srgbClr val="121E33"/>
          </a:solidFill>
          <a:ln w="9525">
            <a:solidFill>
              <a:srgbClr val="243B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0000" tIns="80000"/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BB424"/>
                </a:solidFill>
                <a:latin typeface="Noto Sans CJK SC"/>
              </a:rPr>
              <a:t>⑥ Durable execution</a:t>
            </a:r>
          </a:p>
          <a:p>
            <a:pPr>
              <a:spcAft>
                <a:spcPts val="200"/>
              </a:spcAft>
            </a:pPr>
            <a:r>
              <a:rPr sz="1100" b="0">
                <a:solidFill>
                  <a:srgbClr val="E6EEF7"/>
                </a:solidFill>
                <a:latin typeface="Noto Sans CJK SC"/>
              </a:rPr>
              <a:t>PG checkpointer 断点续跑（resume API 可演示），生产级编排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4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00000" y="2200000"/>
            <a:ext cx="10400000" cy="2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0"/>
              </a:spcAft>
            </a:pPr>
            <a:r>
              <a:rPr sz="3000" b="1">
                <a:solidFill>
                  <a:srgbClr val="E6EEF7"/>
                </a:solidFill>
                <a:latin typeface="Noto Sans CJK SC"/>
              </a:rPr>
              <a:t>让每一条漏洞，自己走完从发现到决策的路</a:t>
            </a:r>
          </a:p>
          <a:p>
            <a:pPr algn="ctr">
              <a:spcAft>
                <a:spcPts val="2400"/>
              </a:spcAft>
            </a:pPr>
            <a:r>
              <a:rPr sz="1600" b="0">
                <a:solidFill>
                  <a:srgbClr val="38BDF8"/>
                </a:solidFill>
                <a:latin typeface="Noto Sans CJK SC"/>
              </a:rPr>
              <a:t>监测更全更快 · 富化更深更准 · 问答能推理可解释</a:t>
            </a:r>
          </a:p>
          <a:p>
            <a:pPr algn="ctr">
              <a:spcAft>
                <a:spcPts val="600"/>
              </a:spcAft>
            </a:pPr>
            <a:r>
              <a:rPr sz="2200" b="1">
                <a:solidFill>
                  <a:srgbClr val="E6EEF7"/>
                </a:solidFill>
                <a:latin typeface="Noto Sans CJK SC"/>
              </a:rPr>
              <a:t>捞针 · Nereid</a:t>
            </a:r>
          </a:p>
          <a:p>
            <a:pPr algn="ctr">
              <a:spcAft>
                <a:spcPts val="400"/>
              </a:spcAft>
            </a:pPr>
            <a:r>
              <a:rPr sz="1200" b="0">
                <a:solidFill>
                  <a:srgbClr val="9AB0C8"/>
                </a:solidFill>
                <a:latin typeface="Noto Sans CJK SC"/>
              </a:rPr>
              <a:t>感谢奇安信命题与组委会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